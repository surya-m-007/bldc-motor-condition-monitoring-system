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aec8e01-3bb9-5ada-9c54-8b350b0e73c5}">
          <p14:sldIdLst>
            <p14:sldId id="256"/>
          </p14:sldIdLst>
        </p14:section>
        <p14:section name="Background" id="{361123fd-83bb-6452-ae0b-717a37fa90c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imulation" id="{af071dea-f8e2-5227-bfd8-f31cc3b4b5d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System Design" id="{7ad25d0b-4b18-4068-2a9e-a16bda951f62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Implementation" id="{b71865d6-03a9-8665-875d-03a8499d5591}">
          <p14:sldIdLst>
            <p14:sldId id="286"/>
            <p14:sldId id="287"/>
            <p14:sldId id="288"/>
            <p14:sldId id="289"/>
            <p14:sldId id="290"/>
          </p14:sldIdLst>
        </p14:section>
        <p14:section name="Results" id="{aa5c0e55-75a7-4f3b-eec9-363236e61ab1}">
          <p14:sldIdLst>
            <p14:sldId id="291"/>
            <p14:sldId id="292"/>
            <p14:sldId id="293"/>
          </p14:sldIdLst>
        </p14:section>
        <p14:section name="Conclusion" id="{bf1dc41d-f631-1762-ffd4-14d6a8f196fa}">
          <p14:sldIdLst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Group 17, the two team members and the project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Industrial motors use most of the electrical energy, and unexpected failures cause downtime. Conventional BLDC drives only control speed and torque.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related studies. Four monitor induction or AC motors with ESP32 or Raspberry Pi platforms; only one targets BLDC motors.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drives only control speed and existing monitors cover single parameters; no low-cost integrated BLDC drive combines the five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low-cost platform that combines drive, monitoring, IoT and predictive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 covering the drive, monitoring, fault detection, IoT, predictive maintenance and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from literature survey to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stages: the drive runs on fixed commutation with no speed control; sensors and the ESP32 monitor it; results go to the OLED and Blynk and a protection trip can disable the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MATLAB/Simulink model: DC source, converter, BLDC motor, commutation logic, load and four fault-monitoring subsystems (current, voltage, vibration, temperature) with lamps and status displays.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circuit of the Simulink model: 24 V DC source, current and voltage sensors, a three-phase six-switch converter driven by the commutation logic with fixed duty 0.3, and the BLDC motor with its load. There is no speed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Commutation uses rotor position to pick which phases are driven; the converter chops the 24 V supply into three-phase PWM voltages.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gate signals: Ga, Gb and Gc, each with a high-side (H) and a low-side (L)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A voltage (top) and current (bottom) over one electrical cycle, split into six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Ga(H) and Ga(L) gate signals with the resulting phase A voltage and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subsystem creates the opposing torque; the vibration subsystem injects ripple and detects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is filtered and compared with 0.9 A; DC-link voltage is compared with 24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Thermal ports of the BLDC model connect through a 2 K/W thermal resistance to a 30 degC ambient source; the sensed temperature is compared with 70 degC.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vs fault current waveforms with the fault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voltage and fault flag for normal and over-voltage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Vibration level and fault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 rise and the fault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Lamps turn from green to red and status displays change from NORMAL to FAULT when each parameter crosses its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simulated monitoring logic is carried over to the ESP32 prototype with thresholds set for the hardware sensors.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power and drive at the bottom, sensing above it, the ESP32 firmware in the middle, and the OLED plus Blynk cloud interface on top. Sensor data flows up; EN and PWM control flows down to the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path on top; sensors measure the motor and supply; the ESP32 processes and sends data to the OLED and Blynk.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hardware parts and the role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24V SMPS feeds the BLDC driver through the ACS712 (current sensed in series). The voltage sensor is connected across the supply. Motor phases U, V, W go to the motor. ESP32 ground is common with the supply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ACS712 OUT goes to GPIO34 and the voltage sensor output to GPIO35 (both ADC1). The DS18B20 data line uses GPIO4 with a 4.7k pull-up. The MPU6050 is on I2C: SDA GPIO21, SCL GPIO22.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SSD1327 OLED uses 4-wire hardware SPI: CS GPIO5, DC GPIO27, RST GPIO14, SCK GPIO18, MOSI GPIO23. The driver enable pin is GPIO25 and PWM is GPIO26.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loop: initialise, read, calculate, detect, analyse, display, upload,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sensor, its ESP32 pin, how it is configured in the code, and which faults it feeds.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fault codes. They are checked in priority order and the first match is reported as the motor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over-current, over-voltage or over-temperature is detected, GPIO25 (EN) goes LOW and the driver is disabled. It re-enables automatically when the faults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score from temperature, current, voltage and vibration; sub-health values for bearing, cooling and electrical; the average gives motor health, remaining life and wear.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fault detection the firmware tracks statistics, estimates performance, self-checks six items and stores key data in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128×128 OLED rotates through twelve pages, changing every three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dashboard screenshot. The right side lists the data stream groups sent every second (V0–V49).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of the working prototype: ESP32 on a breadboard, 24 V SMPS, BLDC driver and motor, and the 1.5-inch OLED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outcomes the project set out to achieve.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directions to extend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what was achieved.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citations for the reviewed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BLDC Motor Condition Monitoring  |  Amrita Vishwa Vidyapeetham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05840"/>
            <a:ext cx="5394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46120"/>
            <a:ext cx="5394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394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5394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PROJECT PRESENTATION  ·  GROUP 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0058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Real-Time BLDC Motor Condition Monitoring, Fault Detection and Predictive Maintenance Using ESP32</a:t>
            </a:r>
            <a:endParaRPr lang="en-US" sz="2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2461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MUKUNDAN  ·  CB.EN.U4EEE24124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SADA SIVA SURYA SRINIVAS  ·  CB.EN.U4EEE24128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Department of EEE  |  Amrita Vishwa Vidyapeetham</a:t>
            </a:r>
            <a:endParaRPr lang="en-US" sz="1200" dirty="0"/>
          </a:p>
        </p:txBody>
      </p:sp>
      <p:sp>
        <p:nvSpPr>
          <p:cNvPr id="6" name="rotor ring"/>
          <p:cNvSpPr/>
          <p:nvPr/>
        </p:nvSpPr>
        <p:spPr>
          <a:xfrm>
            <a:off x="5852160" y="777240"/>
            <a:ext cx="3200400" cy="32004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rotor ring"/>
          <p:cNvSpPr/>
          <p:nvPr/>
        </p:nvSpPr>
        <p:spPr>
          <a:xfrm>
            <a:off x="6355080" y="1280160"/>
            <a:ext cx="2194560" cy="219456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rotor ring"/>
          <p:cNvSpPr/>
          <p:nvPr/>
        </p:nvSpPr>
        <p:spPr>
          <a:xfrm>
            <a:off x="6858000" y="1783080"/>
            <a:ext cx="1188720" cy="118872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bolt badge"/>
          <p:cNvSpPr/>
          <p:nvPr/>
        </p:nvSpPr>
        <p:spPr>
          <a:xfrm>
            <a:off x="7040880" y="19659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0" descr="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1717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Current Problem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457200" y="1234440"/>
            <a:ext cx="2468880" cy="329184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≈ 70%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industrial electrical energy is consumed by motors</a:t>
            </a:r>
            <a:endParaRPr lang="en-US" sz="1600" dirty="0"/>
          </a:p>
        </p:txBody>
      </p:sp>
      <p:sp>
        <p:nvSpPr>
          <p:cNvPr id="7" name="divider"/>
          <p:cNvSpPr/>
          <p:nvPr/>
        </p:nvSpPr>
        <p:spPr>
          <a:xfrm>
            <a:off x="640080" y="3291840"/>
            <a:ext cx="2103120" cy="0"/>
          </a:xfrm>
          <a:prstGeom prst="line">
            <a:avLst/>
          </a:prstGeom>
          <a:noFill/>
          <a:ln w="19050">
            <a:solidFill>
              <a:srgbClr val="F5A5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Conventional BLDC drives only control speed and torque.</a:t>
            </a:r>
            <a:endParaRPr lang="en-US" sz="1300" dirty="0"/>
          </a:p>
        </p:txBody>
      </p:sp>
      <p:sp>
        <p:nvSpPr>
          <p:cNvPr id="9" name="problem chip"/>
          <p:cNvSpPr/>
          <p:nvPr/>
        </p:nvSpPr>
        <p:spPr>
          <a:xfrm>
            <a:off x="3108960" y="123444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Unexpected motor failure badge"/>
          <p:cNvSpPr/>
          <p:nvPr/>
        </p:nvSpPr>
        <p:spPr>
          <a:xfrm>
            <a:off x="32461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0" descr="Unexpected motor fail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0420" y="14859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46120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Unexpected motor failure</a:t>
            </a:r>
            <a:endParaRPr lang="en-US" sz="1300" dirty="0"/>
          </a:p>
        </p:txBody>
      </p:sp>
      <p:sp>
        <p:nvSpPr>
          <p:cNvPr id="13" name="problem chip"/>
          <p:cNvSpPr/>
          <p:nvPr/>
        </p:nvSpPr>
        <p:spPr>
          <a:xfrm>
            <a:off x="4965192" y="123444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igh maintenance cost badge"/>
          <p:cNvSpPr/>
          <p:nvPr/>
        </p:nvSpPr>
        <p:spPr>
          <a:xfrm>
            <a:off x="5102352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High maintenance c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65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02352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High maintenance cost</a:t>
            </a:r>
            <a:endParaRPr lang="en-US" sz="1300" dirty="0"/>
          </a:p>
        </p:txBody>
      </p:sp>
      <p:sp>
        <p:nvSpPr>
          <p:cNvPr id="17" name="problem chip"/>
          <p:cNvSpPr/>
          <p:nvPr/>
        </p:nvSpPr>
        <p:spPr>
          <a:xfrm>
            <a:off x="6821424" y="123444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duction downtime badge"/>
          <p:cNvSpPr/>
          <p:nvPr/>
        </p:nvSpPr>
        <p:spPr>
          <a:xfrm>
            <a:off x="6958584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oduction downti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884" y="14859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58584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Production downtime</a:t>
            </a:r>
            <a:endParaRPr lang="en-US" sz="1300" dirty="0"/>
          </a:p>
        </p:txBody>
      </p:sp>
      <p:sp>
        <p:nvSpPr>
          <p:cNvPr id="21" name="problem chip"/>
          <p:cNvSpPr/>
          <p:nvPr/>
        </p:nvSpPr>
        <p:spPr>
          <a:xfrm>
            <a:off x="3108960" y="256032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nergy wastage badge"/>
          <p:cNvSpPr/>
          <p:nvPr/>
        </p:nvSpPr>
        <p:spPr>
          <a:xfrm>
            <a:off x="3246120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Energy wast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281178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246120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Energy wastage</a:t>
            </a:r>
            <a:endParaRPr lang="en-US" sz="1300" dirty="0"/>
          </a:p>
        </p:txBody>
      </p:sp>
      <p:sp>
        <p:nvSpPr>
          <p:cNvPr id="25" name="problem chip"/>
          <p:cNvSpPr/>
          <p:nvPr/>
        </p:nvSpPr>
        <p:spPr>
          <a:xfrm>
            <a:off x="4965192" y="256032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Manual inspection badge"/>
          <p:cNvSpPr/>
          <p:nvPr/>
        </p:nvSpPr>
        <p:spPr>
          <a:xfrm>
            <a:off x="5102352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Manual inspec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28117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02352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Manual inspection</a:t>
            </a:r>
            <a:endParaRPr lang="en-US" sz="1300" dirty="0"/>
          </a:p>
        </p:txBody>
      </p:sp>
      <p:sp>
        <p:nvSpPr>
          <p:cNvPr id="29" name="problem chip"/>
          <p:cNvSpPr/>
          <p:nvPr/>
        </p:nvSpPr>
        <p:spPr>
          <a:xfrm>
            <a:off x="6821424" y="2560320"/>
            <a:ext cx="1764792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o remote monitoring badge"/>
          <p:cNvSpPr/>
          <p:nvPr/>
        </p:nvSpPr>
        <p:spPr>
          <a:xfrm>
            <a:off x="6958584" y="2697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No remote monitor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28117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58584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remote monitoring</a:t>
            </a:r>
            <a:endParaRPr lang="en-US" sz="1300" dirty="0"/>
          </a:p>
        </p:txBody>
      </p:sp>
      <p:sp>
        <p:nvSpPr>
          <p:cNvPr id="33" name="banner"/>
          <p:cNvSpPr/>
          <p:nvPr/>
        </p:nvSpPr>
        <p:spPr>
          <a:xfrm>
            <a:off x="3108960" y="3931920"/>
            <a:ext cx="557784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3291840" y="3931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Modern industries need intelligent drives with health monitoring and predictive maintenance.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Literature Review</a:t>
            </a:r>
            <a:endParaRPr lang="en-US" sz="3000" dirty="0"/>
          </a:p>
        </p:txBody>
      </p:sp>
      <p:sp>
        <p:nvSpPr>
          <p:cNvPr id="4" name="reference row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"/>
          <p:cNvSpPr/>
          <p:nvPr/>
        </p:nvSpPr>
        <p:spPr>
          <a:xfrm>
            <a:off x="566928" y="128930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188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Raja et al. (2022)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Cost-efficient real-time condition monitoring and fault diagnostics system for BLDC motor using IoT and machine learning</a:t>
            </a:r>
            <a:endParaRPr lang="en-US" sz="1250" dirty="0"/>
          </a:p>
        </p:txBody>
      </p:sp>
      <p:sp>
        <p:nvSpPr>
          <p:cNvPr id="8" name="focus tag"/>
          <p:cNvSpPr/>
          <p:nvPr/>
        </p:nvSpPr>
        <p:spPr>
          <a:xfrm>
            <a:off x="6629400" y="1316736"/>
            <a:ext cx="19202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3167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BLDC · IoT + ML</a:t>
            </a:r>
            <a:endParaRPr lang="en-US" sz="1050" dirty="0"/>
          </a:p>
        </p:txBody>
      </p:sp>
      <p:sp>
        <p:nvSpPr>
          <p:cNvPr id="10" name="reference row"/>
          <p:cNvSpPr/>
          <p:nvPr/>
        </p:nvSpPr>
        <p:spPr>
          <a:xfrm>
            <a:off x="457200" y="182880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566928" y="1929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18288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IoT based condition monitoring (2022)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IoT based condition monitoring and control of induction motor using Raspberry Pi</a:t>
            </a:r>
            <a:endParaRPr lang="en-US" sz="1250" dirty="0"/>
          </a:p>
        </p:txBody>
      </p:sp>
      <p:sp>
        <p:nvSpPr>
          <p:cNvPr id="14" name="focus tag"/>
          <p:cNvSpPr/>
          <p:nvPr/>
        </p:nvSpPr>
        <p:spPr>
          <a:xfrm>
            <a:off x="6629400" y="1956816"/>
            <a:ext cx="19202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1956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Induction · Raspberry Pi</a:t>
            </a:r>
            <a:endParaRPr lang="en-US" sz="1050" dirty="0"/>
          </a:p>
        </p:txBody>
      </p:sp>
      <p:sp>
        <p:nvSpPr>
          <p:cNvPr id="16" name="reference row"/>
          <p:cNvSpPr/>
          <p:nvPr/>
        </p:nvSpPr>
        <p:spPr>
          <a:xfrm>
            <a:off x="457200" y="246888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badge"/>
          <p:cNvSpPr/>
          <p:nvPr/>
        </p:nvSpPr>
        <p:spPr>
          <a:xfrm>
            <a:off x="566928" y="25694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468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do Nascimento, da Silva &amp; Pereira (2024)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Development of a data acquisition and monitoring system for electric motors using the Internet of Things</a:t>
            </a:r>
            <a:endParaRPr lang="en-US" sz="1250" dirty="0"/>
          </a:p>
        </p:txBody>
      </p:sp>
      <p:sp>
        <p:nvSpPr>
          <p:cNvPr id="20" name="focus tag"/>
          <p:cNvSpPr/>
          <p:nvPr/>
        </p:nvSpPr>
        <p:spPr>
          <a:xfrm>
            <a:off x="6629400" y="2596896"/>
            <a:ext cx="19202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25968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ESP32 · temp, current, vibration</a:t>
            </a:r>
            <a:endParaRPr lang="en-US" sz="1050" dirty="0"/>
          </a:p>
        </p:txBody>
      </p:sp>
      <p:sp>
        <p:nvSpPr>
          <p:cNvPr id="22" name="reference row"/>
          <p:cNvSpPr/>
          <p:nvPr/>
        </p:nvSpPr>
        <p:spPr>
          <a:xfrm>
            <a:off x="457200" y="31089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umber badge"/>
          <p:cNvSpPr/>
          <p:nvPr/>
        </p:nvSpPr>
        <p:spPr>
          <a:xfrm>
            <a:off x="566928" y="32095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1089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Arman Sabri &amp; Aziz (2025)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 vibration and temperature detector by using IoT</a:t>
            </a:r>
            <a:endParaRPr lang="en-US" sz="1250" dirty="0"/>
          </a:p>
        </p:txBody>
      </p:sp>
      <p:sp>
        <p:nvSpPr>
          <p:cNvPr id="26" name="focus tag"/>
          <p:cNvSpPr/>
          <p:nvPr/>
        </p:nvSpPr>
        <p:spPr>
          <a:xfrm>
            <a:off x="6629400" y="3236976"/>
            <a:ext cx="19202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0" y="32369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ESP32 · DS18B20 · Blynk</a:t>
            </a:r>
            <a:endParaRPr lang="en-US" sz="1050" dirty="0"/>
          </a:p>
        </p:txBody>
      </p:sp>
      <p:sp>
        <p:nvSpPr>
          <p:cNvPr id="28" name="reference row"/>
          <p:cNvSpPr/>
          <p:nvPr/>
        </p:nvSpPr>
        <p:spPr>
          <a:xfrm>
            <a:off x="457200" y="374904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badge"/>
          <p:cNvSpPr/>
          <p:nvPr/>
        </p:nvSpPr>
        <p:spPr>
          <a:xfrm>
            <a:off x="566928" y="384962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928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97280" y="37490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Wan Mohd Supian et al. (2022)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Electrical machine breakdown monitoring system using IoT</a:t>
            </a:r>
            <a:endParaRPr lang="en-US" sz="1250" dirty="0"/>
          </a:p>
        </p:txBody>
      </p:sp>
      <p:sp>
        <p:nvSpPr>
          <p:cNvPr id="32" name="focus tag"/>
          <p:cNvSpPr/>
          <p:nvPr/>
        </p:nvSpPr>
        <p:spPr>
          <a:xfrm>
            <a:off x="6629400" y="3877056"/>
            <a:ext cx="1920240" cy="310896"/>
          </a:xfrm>
          <a:prstGeom prst="roundRect">
            <a:avLst>
              <a:gd name="adj" fmla="val 2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75120" y="3877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ESP32 · ACS712 · Blynk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Most reviewed work targets induction or AC motors and monitors only a few parameters.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Research Gap</a:t>
            </a:r>
            <a:endParaRPr lang="en-US" sz="3000" dirty="0"/>
          </a:p>
        </p:txBody>
      </p:sp>
      <p:sp>
        <p:nvSpPr>
          <p:cNvPr id="4" name="existing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ap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Existing systems</a:t>
            </a:r>
            <a:endParaRPr lang="en-US" sz="1800" dirty="0"/>
          </a:p>
        </p:txBody>
      </p:sp>
      <p:pic>
        <p:nvPicPr>
          <p:cNvPr id="7" name="Image 0" descr="cr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BLDC drives only perform speed control</a:t>
            </a:r>
            <a:endParaRPr lang="en-US" sz="1400" dirty="0"/>
          </a:p>
        </p:txBody>
      </p:sp>
      <p:pic>
        <p:nvPicPr>
          <p:cNvPr id="9" name="Image 1" descr="cro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310896" cy="31089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606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 tracks temperature, current or vibration alone</a:t>
            </a:r>
            <a:endParaRPr lang="en-US" sz="1400" dirty="0"/>
          </a:p>
        </p:txBody>
      </p:sp>
      <p:pic>
        <p:nvPicPr>
          <p:cNvPr id="11" name="Image 2" descr="cro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310896" cy="31089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8872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Expensive</a:t>
            </a:r>
            <a:endParaRPr lang="en-US" sz="1400" dirty="0"/>
          </a:p>
        </p:txBody>
      </p:sp>
      <p:pic>
        <p:nvPicPr>
          <p:cNvPr id="13" name="Image 3" descr="cro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310896" cy="31089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8872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hardware required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Research gap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493776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No low-cost integrated BLDC drive combining:</a:t>
            </a:r>
            <a:endParaRPr lang="en-US" sz="1250" dirty="0"/>
          </a:p>
        </p:txBody>
      </p:sp>
      <p:pic>
        <p:nvPicPr>
          <p:cNvPr id="17" name="Image 4" descr="g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295144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394960" y="2240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Power electronics</a:t>
            </a:r>
            <a:endParaRPr lang="en-US" sz="1500" dirty="0"/>
          </a:p>
        </p:txBody>
      </p:sp>
      <p:pic>
        <p:nvPicPr>
          <p:cNvPr id="19" name="Image 5" descr="ga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706624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394960" y="2651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Drive control</a:t>
            </a:r>
            <a:endParaRPr lang="en-US" sz="1500" dirty="0"/>
          </a:p>
        </p:txBody>
      </p:sp>
      <p:pic>
        <p:nvPicPr>
          <p:cNvPr id="21" name="Image 6" descr="g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118104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3949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Energy monitoring</a:t>
            </a:r>
            <a:endParaRPr lang="en-US" sz="1500" dirty="0"/>
          </a:p>
        </p:txBody>
      </p:sp>
      <p:pic>
        <p:nvPicPr>
          <p:cNvPr id="23" name="Image 7" descr="ga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529584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9496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IoT</a:t>
            </a:r>
            <a:endParaRPr lang="en-US" sz="1500" dirty="0"/>
          </a:p>
        </p:txBody>
      </p:sp>
      <p:pic>
        <p:nvPicPr>
          <p:cNvPr id="25" name="Image 8" descr="ga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941064"/>
            <a:ext cx="274320" cy="27432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394960" y="3886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Predictive maintenance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Novelty</a:t>
            </a:r>
            <a:endParaRPr lang="en-US" sz="3000" dirty="0"/>
          </a:p>
        </p:txBody>
      </p:sp>
      <p:sp>
        <p:nvSpPr>
          <p:cNvPr id="4" name="novelty card"/>
          <p:cNvSpPr/>
          <p:nvPr/>
        </p:nvSpPr>
        <p:spPr>
          <a:xfrm>
            <a:off x="457200" y="1234440"/>
            <a:ext cx="429768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IS NEW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system turns a conventional BLDC drive into an intelligent, self-monitoring drive on a single low-cost platform. Unlike systems that only control the motor or watch isolated parameters, it continuously evaluates motor health and gives early maintenance recommendations while keeping operation efficient.</a:t>
            </a:r>
            <a:endParaRPr lang="en-US" sz="1700" dirty="0"/>
          </a:p>
        </p:txBody>
      </p:sp>
      <p:sp>
        <p:nvSpPr>
          <p:cNvPr id="7" name="pillar"/>
          <p:cNvSpPr/>
          <p:nvPr/>
        </p:nvSpPr>
        <p:spPr>
          <a:xfrm>
            <a:off x="4937760" y="1234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ower electronics badge"/>
          <p:cNvSpPr/>
          <p:nvPr/>
        </p:nvSpPr>
        <p:spPr>
          <a:xfrm>
            <a:off x="50749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ower electron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790" y="1474470"/>
            <a:ext cx="205740" cy="2057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7492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Power electronics</a:t>
            </a:r>
            <a:endParaRPr lang="en-US" sz="1250" dirty="0"/>
          </a:p>
        </p:txBody>
      </p:sp>
      <p:sp>
        <p:nvSpPr>
          <p:cNvPr id="11" name="pillar"/>
          <p:cNvSpPr/>
          <p:nvPr/>
        </p:nvSpPr>
        <p:spPr>
          <a:xfrm>
            <a:off x="6812280" y="1234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tor protection badge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Motor pro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310" y="1474470"/>
            <a:ext cx="205740" cy="2057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4944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Motor protection</a:t>
            </a:r>
            <a:endParaRPr lang="en-US" sz="1250" dirty="0"/>
          </a:p>
        </p:txBody>
      </p:sp>
      <p:sp>
        <p:nvSpPr>
          <p:cNvPr id="15" name="pillar"/>
          <p:cNvSpPr/>
          <p:nvPr/>
        </p:nvSpPr>
        <p:spPr>
          <a:xfrm>
            <a:off x="4937760" y="2377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ulti-parameter monitoring badge"/>
          <p:cNvSpPr/>
          <p:nvPr/>
        </p:nvSpPr>
        <p:spPr>
          <a:xfrm>
            <a:off x="5074920" y="2514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Multi-parameter monito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790" y="261747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749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Multi-parameter monitoring</a:t>
            </a:r>
            <a:endParaRPr lang="en-US" sz="1250" dirty="0"/>
          </a:p>
        </p:txBody>
      </p:sp>
      <p:sp>
        <p:nvSpPr>
          <p:cNvPr id="19" name="pillar"/>
          <p:cNvSpPr/>
          <p:nvPr/>
        </p:nvSpPr>
        <p:spPr>
          <a:xfrm>
            <a:off x="6812280" y="2377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oT remote supervision badge"/>
          <p:cNvSpPr/>
          <p:nvPr/>
        </p:nvSpPr>
        <p:spPr>
          <a:xfrm>
            <a:off x="6949440" y="2514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IoT remote supervis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261747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IoT remote supervision</a:t>
            </a:r>
            <a:endParaRPr lang="en-US" sz="1250" dirty="0"/>
          </a:p>
        </p:txBody>
      </p:sp>
      <p:sp>
        <p:nvSpPr>
          <p:cNvPr id="23" name="pillar"/>
          <p:cNvSpPr/>
          <p:nvPr/>
        </p:nvSpPr>
        <p:spPr>
          <a:xfrm>
            <a:off x="4937760" y="3520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Energy analytics badge"/>
          <p:cNvSpPr/>
          <p:nvPr/>
        </p:nvSpPr>
        <p:spPr>
          <a:xfrm>
            <a:off x="507492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Energy analytic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7790" y="3760470"/>
            <a:ext cx="205740" cy="2057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074920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Energy analytics</a:t>
            </a:r>
            <a:endParaRPr lang="en-US" sz="1250" dirty="0"/>
          </a:p>
        </p:txBody>
      </p:sp>
      <p:sp>
        <p:nvSpPr>
          <p:cNvPr id="27" name="pillar"/>
          <p:cNvSpPr/>
          <p:nvPr/>
        </p:nvSpPr>
        <p:spPr>
          <a:xfrm>
            <a:off x="6812280" y="352044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Predictive maintenance badge"/>
          <p:cNvSpPr/>
          <p:nvPr/>
        </p:nvSpPr>
        <p:spPr>
          <a:xfrm>
            <a:off x="694944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Predictive maintena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2310" y="3760470"/>
            <a:ext cx="205740" cy="2057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49440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Predictive maintenance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4" name="objective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0195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Design and simulate a BLDC motor drive with a three-phase power converter</a:t>
            </a:r>
            <a:endParaRPr lang="en-US" sz="1200" dirty="0"/>
          </a:p>
        </p:txBody>
      </p:sp>
      <p:sp>
        <p:nvSpPr>
          <p:cNvPr id="8" name="objective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269748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190195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Protect the motor by disabling the drive on critical faults</a:t>
            </a:r>
            <a:endParaRPr lang="en-US" sz="1200" dirty="0"/>
          </a:p>
        </p:txBody>
      </p:sp>
      <p:sp>
        <p:nvSpPr>
          <p:cNvPr id="12" name="objective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badge"/>
          <p:cNvSpPr/>
          <p:nvPr/>
        </p:nvSpPr>
        <p:spPr>
          <a:xfrm>
            <a:off x="480060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190195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Monitor voltage, current, power and energy in real time</a:t>
            </a:r>
            <a:endParaRPr lang="en-US" sz="1200" dirty="0"/>
          </a:p>
        </p:txBody>
      </p:sp>
      <p:sp>
        <p:nvSpPr>
          <p:cNvPr id="16" name="objective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badge"/>
          <p:cNvSpPr/>
          <p:nvPr/>
        </p:nvSpPr>
        <p:spPr>
          <a:xfrm>
            <a:off x="69037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190195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Monitor motor vibration and temperature</a:t>
            </a:r>
            <a:endParaRPr lang="en-US" sz="1200" dirty="0"/>
          </a:p>
        </p:txBody>
      </p:sp>
      <p:sp>
        <p:nvSpPr>
          <p:cNvPr id="20" name="objective"/>
          <p:cNvSpPr/>
          <p:nvPr/>
        </p:nvSpPr>
        <p:spPr>
          <a:xfrm>
            <a:off x="45720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badge"/>
          <p:cNvSpPr/>
          <p:nvPr/>
        </p:nvSpPr>
        <p:spPr>
          <a:xfrm>
            <a:off x="59436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59359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Detect overload, overheating and mechanical abnormalities by multi-parameter analysis</a:t>
            </a:r>
            <a:endParaRPr lang="en-US" sz="1200" dirty="0"/>
          </a:p>
        </p:txBody>
      </p:sp>
      <p:sp>
        <p:nvSpPr>
          <p:cNvPr id="24" name="objective"/>
          <p:cNvSpPr/>
          <p:nvPr/>
        </p:nvSpPr>
        <p:spPr>
          <a:xfrm>
            <a:off x="256032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badge"/>
          <p:cNvSpPr/>
          <p:nvPr/>
        </p:nvSpPr>
        <p:spPr>
          <a:xfrm>
            <a:off x="269748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974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359359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Enable IoT remote monitoring with ESP32 and a cloud dashboard</a:t>
            </a:r>
            <a:endParaRPr lang="en-US" sz="1200" dirty="0"/>
          </a:p>
        </p:txBody>
      </p:sp>
      <p:sp>
        <p:nvSpPr>
          <p:cNvPr id="28" name="objective"/>
          <p:cNvSpPr/>
          <p:nvPr/>
        </p:nvSpPr>
        <p:spPr>
          <a:xfrm>
            <a:off x="466344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badge"/>
          <p:cNvSpPr/>
          <p:nvPr/>
        </p:nvSpPr>
        <p:spPr>
          <a:xfrm>
            <a:off x="480060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359359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Provide predictive maintenance with early fault warnings</a:t>
            </a:r>
            <a:endParaRPr lang="en-US" sz="1200" dirty="0"/>
          </a:p>
        </p:txBody>
      </p:sp>
      <p:sp>
        <p:nvSpPr>
          <p:cNvPr id="32" name="objective"/>
          <p:cNvSpPr/>
          <p:nvPr/>
        </p:nvSpPr>
        <p:spPr>
          <a:xfrm>
            <a:off x="6766560" y="297180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badge"/>
          <p:cNvSpPr/>
          <p:nvPr/>
        </p:nvSpPr>
        <p:spPr>
          <a:xfrm>
            <a:off x="6903720" y="3108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9037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359359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Validate through MATLAB/Simulink simulation and hardware implementation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Methodology</a:t>
            </a:r>
            <a:endParaRPr lang="en-US" sz="3000" dirty="0"/>
          </a:p>
        </p:txBody>
      </p:sp>
      <p:sp>
        <p:nvSpPr>
          <p:cNvPr id="4" name="method step"/>
          <p:cNvSpPr/>
          <p:nvPr/>
        </p:nvSpPr>
        <p:spPr>
          <a:xfrm>
            <a:off x="45720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"/>
          <p:cNvSpPr/>
          <p:nvPr/>
        </p:nvSpPr>
        <p:spPr>
          <a:xfrm>
            <a:off x="566928" y="1362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Literature Survey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BLDC drives, fault detection, IoT monitoring, predictive maintenance</a:t>
            </a:r>
            <a:endParaRPr lang="en-US" sz="1150" dirty="0"/>
          </a:p>
        </p:txBody>
      </p:sp>
      <p:sp>
        <p:nvSpPr>
          <p:cNvPr id="9" name="method step"/>
          <p:cNvSpPr/>
          <p:nvPr/>
        </p:nvSpPr>
        <p:spPr>
          <a:xfrm>
            <a:off x="324612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 badge"/>
          <p:cNvSpPr/>
          <p:nvPr/>
        </p:nvSpPr>
        <p:spPr>
          <a:xfrm>
            <a:off x="3355848" y="1362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55848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BLDC Drive Modeling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55848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Simulink: DC source, three-phase converter, commutation, BLDC motor</a:t>
            </a:r>
            <a:endParaRPr lang="en-US" sz="1150" dirty="0"/>
          </a:p>
        </p:txBody>
      </p:sp>
      <p:sp>
        <p:nvSpPr>
          <p:cNvPr id="14" name="method step"/>
          <p:cNvSpPr/>
          <p:nvPr/>
        </p:nvSpPr>
        <p:spPr>
          <a:xfrm>
            <a:off x="6035040" y="1234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badge"/>
          <p:cNvSpPr/>
          <p:nvPr/>
        </p:nvSpPr>
        <p:spPr>
          <a:xfrm>
            <a:off x="6144768" y="1362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Drive Control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Fixed commutation, no speed loop</a:t>
            </a:r>
            <a:endParaRPr lang="en-US" sz="1150" dirty="0"/>
          </a:p>
        </p:txBody>
      </p:sp>
      <p:sp>
        <p:nvSpPr>
          <p:cNvPr id="19" name="method step"/>
          <p:cNvSpPr/>
          <p:nvPr/>
        </p:nvSpPr>
        <p:spPr>
          <a:xfrm>
            <a:off x="45720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badge"/>
          <p:cNvSpPr/>
          <p:nvPr/>
        </p:nvSpPr>
        <p:spPr>
          <a:xfrm>
            <a:off x="566928" y="2505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Parameter Monitoring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Voltage, current, power, energy, temperature, vibration</a:t>
            </a:r>
            <a:endParaRPr lang="en-US" sz="1150" dirty="0"/>
          </a:p>
        </p:txBody>
      </p:sp>
      <p:sp>
        <p:nvSpPr>
          <p:cNvPr id="24" name="method step"/>
          <p:cNvSpPr/>
          <p:nvPr/>
        </p:nvSpPr>
        <p:spPr>
          <a:xfrm>
            <a:off x="324612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badge"/>
          <p:cNvSpPr/>
          <p:nvPr/>
        </p:nvSpPr>
        <p:spPr>
          <a:xfrm>
            <a:off x="3355848" y="2505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5584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84048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Fault Simulation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35584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Overload, over-temperature and mechanical vibration faults</a:t>
            </a:r>
            <a:endParaRPr lang="en-US" sz="1150" dirty="0"/>
          </a:p>
        </p:txBody>
      </p:sp>
      <p:sp>
        <p:nvSpPr>
          <p:cNvPr id="29" name="method step"/>
          <p:cNvSpPr/>
          <p:nvPr/>
        </p:nvSpPr>
        <p:spPr>
          <a:xfrm>
            <a:off x="603504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ber badge"/>
          <p:cNvSpPr/>
          <p:nvPr/>
        </p:nvSpPr>
        <p:spPr>
          <a:xfrm>
            <a:off x="6144768" y="2505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4476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Fault Detection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14476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Classify condition: Healthy, Warning or Fault</a:t>
            </a:r>
            <a:endParaRPr lang="en-US" sz="1150" dirty="0"/>
          </a:p>
        </p:txBody>
      </p:sp>
      <p:sp>
        <p:nvSpPr>
          <p:cNvPr id="34" name="method step"/>
          <p:cNvSpPr/>
          <p:nvPr/>
        </p:nvSpPr>
        <p:spPr>
          <a:xfrm>
            <a:off x="457200" y="3520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number badge"/>
          <p:cNvSpPr/>
          <p:nvPr/>
        </p:nvSpPr>
        <p:spPr>
          <a:xfrm>
            <a:off x="566928" y="3648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6928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Predictive Maintenance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Estimate motor health from sensor data and raise maintenance alerts</a:t>
            </a:r>
            <a:endParaRPr lang="en-US" sz="1150" dirty="0"/>
          </a:p>
        </p:txBody>
      </p:sp>
      <p:sp>
        <p:nvSpPr>
          <p:cNvPr id="39" name="method step"/>
          <p:cNvSpPr/>
          <p:nvPr/>
        </p:nvSpPr>
        <p:spPr>
          <a:xfrm>
            <a:off x="3246120" y="3520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number badge"/>
          <p:cNvSpPr/>
          <p:nvPr/>
        </p:nvSpPr>
        <p:spPr>
          <a:xfrm>
            <a:off x="3355848" y="3648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55848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384048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IoT Integration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35584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ESP32 sends live data to a cloud dashboard</a:t>
            </a:r>
            <a:endParaRPr lang="en-US" sz="1150" dirty="0"/>
          </a:p>
        </p:txBody>
      </p:sp>
      <p:sp>
        <p:nvSpPr>
          <p:cNvPr id="44" name="method step"/>
          <p:cNvSpPr/>
          <p:nvPr/>
        </p:nvSpPr>
        <p:spPr>
          <a:xfrm>
            <a:off x="6035040" y="3520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number badge"/>
          <p:cNvSpPr/>
          <p:nvPr/>
        </p:nvSpPr>
        <p:spPr>
          <a:xfrm>
            <a:off x="6144768" y="36484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44768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6629400" y="3611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144768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MATLAB simulation with hardware results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4" name="stage"/>
          <p:cNvSpPr/>
          <p:nvPr/>
        </p:nvSpPr>
        <p:spPr>
          <a:xfrm>
            <a:off x="457200" y="1188720"/>
            <a:ext cx="2606040" cy="29718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ge header"/>
          <p:cNvSpPr/>
          <p:nvPr/>
        </p:nvSpPr>
        <p:spPr>
          <a:xfrm>
            <a:off x="457200" y="1188720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 DRIVE</a:t>
            </a:r>
            <a:endParaRPr lang="en-US" sz="1500" dirty="0"/>
          </a:p>
        </p:txBody>
      </p:sp>
      <p:sp>
        <p:nvSpPr>
          <p:cNvPr id="7" name="stage"/>
          <p:cNvSpPr/>
          <p:nvPr/>
        </p:nvSpPr>
        <p:spPr>
          <a:xfrm>
            <a:off x="3268980" y="1188720"/>
            <a:ext cx="2606040" cy="29718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ge header"/>
          <p:cNvSpPr/>
          <p:nvPr/>
        </p:nvSpPr>
        <p:spPr>
          <a:xfrm>
            <a:off x="3268980" y="1188720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6898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MONITOR</a:t>
            </a:r>
            <a:endParaRPr lang="en-US" sz="1500" dirty="0"/>
          </a:p>
        </p:txBody>
      </p:sp>
      <p:sp>
        <p:nvSpPr>
          <p:cNvPr id="10" name="stage"/>
          <p:cNvSpPr/>
          <p:nvPr/>
        </p:nvSpPr>
        <p:spPr>
          <a:xfrm>
            <a:off x="6080760" y="1188720"/>
            <a:ext cx="2606040" cy="29718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ge header"/>
          <p:cNvSpPr/>
          <p:nvPr/>
        </p:nvSpPr>
        <p:spPr>
          <a:xfrm>
            <a:off x="6080760" y="1188720"/>
            <a:ext cx="26060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ACT &amp; SHARE</a:t>
            </a:r>
            <a:endParaRPr lang="en-US" sz="1500" dirty="0"/>
          </a:p>
        </p:txBody>
      </p:sp>
      <p:sp>
        <p:nvSpPr>
          <p:cNvPr id="13" name="24 V DC source"/>
          <p:cNvSpPr/>
          <p:nvPr/>
        </p:nvSpPr>
        <p:spPr>
          <a:xfrm>
            <a:off x="640080" y="1783080"/>
            <a:ext cx="22402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24 V DC source</a:t>
            </a:r>
            <a:endParaRPr lang="en-US" sz="1250" dirty="0"/>
          </a:p>
        </p:txBody>
      </p:sp>
      <p:sp>
        <p:nvSpPr>
          <p:cNvPr id="15" name="arrow"/>
          <p:cNvSpPr/>
          <p:nvPr/>
        </p:nvSpPr>
        <p:spPr>
          <a:xfrm>
            <a:off x="1627632" y="2304288"/>
            <a:ext cx="256032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hree-phase inverter"/>
          <p:cNvSpPr/>
          <p:nvPr/>
        </p:nvSpPr>
        <p:spPr>
          <a:xfrm>
            <a:off x="640080" y="2514600"/>
            <a:ext cx="224028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25146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Three-phase inverter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fixed commutation, no speed loop</a:t>
            </a:r>
            <a:endParaRPr lang="en-US" sz="1250" dirty="0"/>
          </a:p>
        </p:txBody>
      </p:sp>
      <p:sp>
        <p:nvSpPr>
          <p:cNvPr id="18" name="arrow"/>
          <p:cNvSpPr/>
          <p:nvPr/>
        </p:nvSpPr>
        <p:spPr>
          <a:xfrm>
            <a:off x="1627632" y="3218688"/>
            <a:ext cx="256032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BLDC motor + load"/>
          <p:cNvSpPr/>
          <p:nvPr/>
        </p:nvSpPr>
        <p:spPr>
          <a:xfrm>
            <a:off x="640080" y="3447288"/>
            <a:ext cx="22402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4472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BLDC motor + load</a:t>
            </a:r>
            <a:endParaRPr lang="en-US" sz="1250" dirty="0"/>
          </a:p>
        </p:txBody>
      </p:sp>
      <p:sp>
        <p:nvSpPr>
          <p:cNvPr id="21" name="Voltage"/>
          <p:cNvSpPr/>
          <p:nvPr/>
        </p:nvSpPr>
        <p:spPr>
          <a:xfrm>
            <a:off x="3451860" y="178308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9758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Voltage</a:t>
            </a:r>
            <a:endParaRPr lang="en-US" sz="1250" dirty="0"/>
          </a:p>
        </p:txBody>
      </p:sp>
      <p:sp>
        <p:nvSpPr>
          <p:cNvPr id="23" name="Current"/>
          <p:cNvSpPr/>
          <p:nvPr/>
        </p:nvSpPr>
        <p:spPr>
          <a:xfrm>
            <a:off x="4754880" y="178308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0060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Current</a:t>
            </a:r>
            <a:endParaRPr lang="en-US" sz="1250" dirty="0"/>
          </a:p>
        </p:txBody>
      </p:sp>
      <p:sp>
        <p:nvSpPr>
          <p:cNvPr id="25" name="Temperature"/>
          <p:cNvSpPr/>
          <p:nvPr/>
        </p:nvSpPr>
        <p:spPr>
          <a:xfrm>
            <a:off x="3451860" y="237744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9758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Temperature</a:t>
            </a:r>
            <a:endParaRPr lang="en-US" sz="1250" dirty="0"/>
          </a:p>
        </p:txBody>
      </p:sp>
      <p:sp>
        <p:nvSpPr>
          <p:cNvPr id="27" name="Vibration"/>
          <p:cNvSpPr/>
          <p:nvPr/>
        </p:nvSpPr>
        <p:spPr>
          <a:xfrm>
            <a:off x="4754880" y="237744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0060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Vibration</a:t>
            </a:r>
            <a:endParaRPr lang="en-US" sz="1250" dirty="0"/>
          </a:p>
        </p:txBody>
      </p:sp>
      <p:sp>
        <p:nvSpPr>
          <p:cNvPr id="29" name="arrow"/>
          <p:cNvSpPr/>
          <p:nvPr/>
        </p:nvSpPr>
        <p:spPr>
          <a:xfrm>
            <a:off x="4434840" y="2944368"/>
            <a:ext cx="256032" cy="18288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ESP32"/>
          <p:cNvSpPr/>
          <p:nvPr/>
        </p:nvSpPr>
        <p:spPr>
          <a:xfrm>
            <a:off x="3451860" y="3172968"/>
            <a:ext cx="22402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97580" y="317296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ESP32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power &amp; energy · fault detection · health score</a:t>
            </a:r>
            <a:endParaRPr lang="en-US" sz="1250" dirty="0"/>
          </a:p>
        </p:txBody>
      </p:sp>
      <p:sp>
        <p:nvSpPr>
          <p:cNvPr id="32" name="OLED display"/>
          <p:cNvSpPr/>
          <p:nvPr/>
        </p:nvSpPr>
        <p:spPr>
          <a:xfrm>
            <a:off x="6263640" y="1783080"/>
            <a:ext cx="22402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17830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OLED display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12 live pages</a:t>
            </a:r>
            <a:endParaRPr lang="en-US" sz="1250" dirty="0"/>
          </a:p>
        </p:txBody>
      </p:sp>
      <p:sp>
        <p:nvSpPr>
          <p:cNvPr id="34" name="Blynk dashboard"/>
          <p:cNvSpPr/>
          <p:nvPr/>
        </p:nvSpPr>
        <p:spPr>
          <a:xfrm>
            <a:off x="6263640" y="2578608"/>
            <a:ext cx="22402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09360" y="257860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Blynk 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remote monitoring</a:t>
            </a:r>
            <a:endParaRPr lang="en-US" sz="1250" dirty="0"/>
          </a:p>
        </p:txBody>
      </p:sp>
      <p:sp>
        <p:nvSpPr>
          <p:cNvPr id="36" name="Protection trip"/>
          <p:cNvSpPr/>
          <p:nvPr/>
        </p:nvSpPr>
        <p:spPr>
          <a:xfrm>
            <a:off x="6263640" y="3374136"/>
            <a:ext cx="22402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09360" y="33741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Protection trip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EN pin disables the driver</a:t>
            </a:r>
            <a:endParaRPr lang="en-US" sz="1250" dirty="0"/>
          </a:p>
        </p:txBody>
      </p:sp>
      <p:sp>
        <p:nvSpPr>
          <p:cNvPr id="38" name="arrow"/>
          <p:cNvSpPr/>
          <p:nvPr/>
        </p:nvSpPr>
        <p:spPr>
          <a:xfrm>
            <a:off x="3054096" y="260604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arrow"/>
          <p:cNvSpPr/>
          <p:nvPr/>
        </p:nvSpPr>
        <p:spPr>
          <a:xfrm>
            <a:off x="5879592" y="2606040"/>
            <a:ext cx="1828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banner"/>
          <p:cNvSpPr/>
          <p:nvPr/>
        </p:nvSpPr>
        <p:spPr>
          <a:xfrm>
            <a:off x="457200" y="4251960"/>
            <a:ext cx="822960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" y="42519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The speed is not controlled: the drive runs on fixed commutation while the ESP32 monitors and protects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Simulation Base Model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Simulink base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36" y="1188720"/>
            <a:ext cx="7415729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Simulation Circuit Diagram</a:t>
            </a:r>
            <a:endParaRPr lang="en-US" sz="3000" dirty="0"/>
          </a:p>
        </p:txBody>
      </p:sp>
      <p:sp>
        <p:nvSpPr>
          <p:cNvPr id="4" name="gate drive group"/>
          <p:cNvSpPr/>
          <p:nvPr/>
        </p:nvSpPr>
        <p:spPr>
          <a:xfrm>
            <a:off x="2057400" y="160020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0"/>
            </a:srgbClr>
          </a:solidFill>
          <a:ln w="15875">
            <a:solidFill>
              <a:srgbClr val="0E7C86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2148840" y="1618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Gate drive: Ga, Gb, Gc (H / L)</a:t>
            </a:r>
            <a:endParaRPr lang="en-US" sz="1000" dirty="0"/>
          </a:p>
        </p:txBody>
      </p:sp>
      <p:sp>
        <p:nvSpPr>
          <p:cNvPr id="6" name="wire"/>
          <p:cNvSpPr/>
          <p:nvPr/>
        </p:nvSpPr>
        <p:spPr>
          <a:xfrm>
            <a:off x="960120" y="1325880"/>
            <a:ext cx="4069080" cy="0"/>
          </a:xfrm>
          <a:prstGeom prst="line">
            <a:avLst/>
          </a:prstGeom>
          <a:noFill/>
          <a:ln w="38100">
            <a:solidFill>
              <a:srgbClr val="C93C3C"/>
            </a:solidFill>
            <a:prstDash val="solid"/>
          </a:ln>
        </p:spPr>
      </p:sp>
      <p:sp>
        <p:nvSpPr>
          <p:cNvPr id="7" name="wire"/>
          <p:cNvSpPr/>
          <p:nvPr/>
        </p:nvSpPr>
        <p:spPr>
          <a:xfrm>
            <a:off x="960120" y="3931920"/>
            <a:ext cx="4069080" cy="0"/>
          </a:xfrm>
          <a:prstGeom prst="line">
            <a:avLst/>
          </a:prstGeom>
          <a:noFill/>
          <a:ln w="38100">
            <a:solidFill>
              <a:srgbClr val="0B1F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24128" y="1097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+24 V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959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0 V</a:t>
            </a:r>
            <a:endParaRPr lang="en-US" sz="1000" dirty="0"/>
          </a:p>
        </p:txBody>
      </p:sp>
      <p:sp>
        <p:nvSpPr>
          <p:cNvPr id="10" name="DC source"/>
          <p:cNvSpPr/>
          <p:nvPr/>
        </p:nvSpPr>
        <p:spPr>
          <a:xfrm>
            <a:off x="548640" y="2194560"/>
            <a:ext cx="822960" cy="822960"/>
          </a:xfrm>
          <a:prstGeom prst="ellipse">
            <a:avLst/>
          </a:prstGeom>
          <a:solidFill>
            <a:schemeClr val="bg2"/>
          </a:solidFill>
          <a:ln w="19050">
            <a:solidFill>
              <a:srgbClr val="4A657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24 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DC</a:t>
            </a:r>
            <a:endParaRPr lang="en-US" sz="1200" dirty="0"/>
          </a:p>
        </p:txBody>
      </p:sp>
      <p:sp>
        <p:nvSpPr>
          <p:cNvPr id="12" name="wire"/>
          <p:cNvSpPr/>
          <p:nvPr/>
        </p:nvSpPr>
        <p:spPr>
          <a:xfrm flipV="1">
            <a:off x="960120" y="1325880"/>
            <a:ext cx="0" cy="868680"/>
          </a:xfrm>
          <a:prstGeom prst="line">
            <a:avLst/>
          </a:prstGeom>
          <a:noFill/>
          <a:ln w="38100">
            <a:solidFill>
              <a:srgbClr val="C93C3C"/>
            </a:solidFill>
            <a:prstDash val="solid"/>
          </a:ln>
        </p:spPr>
      </p:sp>
      <p:sp>
        <p:nvSpPr>
          <p:cNvPr id="13" name="wire"/>
          <p:cNvSpPr/>
          <p:nvPr/>
        </p:nvSpPr>
        <p:spPr>
          <a:xfrm>
            <a:off x="960120" y="3017520"/>
            <a:ext cx="0" cy="914400"/>
          </a:xfrm>
          <a:prstGeom prst="line">
            <a:avLst/>
          </a:prstGeom>
          <a:noFill/>
          <a:ln w="38100">
            <a:solidFill>
              <a:srgbClr val="0B1F2E"/>
            </a:solidFill>
            <a:prstDash val="solid"/>
          </a:ln>
        </p:spPr>
      </p:sp>
      <p:sp>
        <p:nvSpPr>
          <p:cNvPr id="14" name="wire"/>
          <p:cNvSpPr/>
          <p:nvPr/>
        </p:nvSpPr>
        <p:spPr>
          <a:xfrm>
            <a:off x="1737360" y="1325880"/>
            <a:ext cx="0" cy="114300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15" name="wire"/>
          <p:cNvSpPr/>
          <p:nvPr/>
        </p:nvSpPr>
        <p:spPr>
          <a:xfrm>
            <a:off x="1737360" y="2834640"/>
            <a:ext cx="0" cy="109728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16" name="junction"/>
          <p:cNvSpPr/>
          <p:nvPr/>
        </p:nvSpPr>
        <p:spPr>
          <a:xfrm>
            <a:off x="1682496" y="1271016"/>
            <a:ext cx="109728" cy="109728"/>
          </a:xfrm>
          <a:prstGeom prst="ellipse">
            <a:avLst/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7" name="junction"/>
          <p:cNvSpPr/>
          <p:nvPr/>
        </p:nvSpPr>
        <p:spPr>
          <a:xfrm>
            <a:off x="1682496" y="3877056"/>
            <a:ext cx="109728" cy="109728"/>
          </a:xfrm>
          <a:prstGeom prst="ellipse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8" name="V sensor"/>
          <p:cNvSpPr/>
          <p:nvPr/>
        </p:nvSpPr>
        <p:spPr>
          <a:xfrm>
            <a:off x="1554480" y="24688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57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</a:t>
            </a:r>
            <a:endParaRPr lang="en-US" sz="1200" dirty="0"/>
          </a:p>
        </p:txBody>
      </p:sp>
      <p:sp>
        <p:nvSpPr>
          <p:cNvPr id="20" name="A sensor"/>
          <p:cNvSpPr/>
          <p:nvPr/>
        </p:nvSpPr>
        <p:spPr>
          <a:xfrm>
            <a:off x="1920240" y="11430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657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9202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22" name="wire"/>
          <p:cNvSpPr/>
          <p:nvPr/>
        </p:nvSpPr>
        <p:spPr>
          <a:xfrm>
            <a:off x="2651760" y="1325880"/>
            <a:ext cx="0" cy="502920"/>
          </a:xfrm>
          <a:prstGeom prst="line">
            <a:avLst/>
          </a:prstGeom>
          <a:noFill/>
          <a:ln w="38100">
            <a:solidFill>
              <a:srgbClr val="C93C3C"/>
            </a:solidFill>
            <a:prstDash val="solid"/>
          </a:ln>
        </p:spPr>
      </p:sp>
      <p:sp>
        <p:nvSpPr>
          <p:cNvPr id="23" name="wire"/>
          <p:cNvSpPr/>
          <p:nvPr/>
        </p:nvSpPr>
        <p:spPr>
          <a:xfrm>
            <a:off x="2651760" y="2286000"/>
            <a:ext cx="0" cy="77724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24" name="wire"/>
          <p:cNvSpPr/>
          <p:nvPr/>
        </p:nvSpPr>
        <p:spPr>
          <a:xfrm>
            <a:off x="2651760" y="3520440"/>
            <a:ext cx="0" cy="411480"/>
          </a:xfrm>
          <a:prstGeom prst="line">
            <a:avLst/>
          </a:prstGeom>
          <a:noFill/>
          <a:ln w="38100">
            <a:solidFill>
              <a:srgbClr val="0B1F2E"/>
            </a:solidFill>
            <a:prstDash val="solid"/>
          </a:ln>
        </p:spPr>
      </p:sp>
      <p:sp>
        <p:nvSpPr>
          <p:cNvPr id="25" name="junction"/>
          <p:cNvSpPr/>
          <p:nvPr/>
        </p:nvSpPr>
        <p:spPr>
          <a:xfrm>
            <a:off x="2596896" y="1271016"/>
            <a:ext cx="109728" cy="109728"/>
          </a:xfrm>
          <a:prstGeom prst="ellipse">
            <a:avLst/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26" name="junction"/>
          <p:cNvSpPr/>
          <p:nvPr/>
        </p:nvSpPr>
        <p:spPr>
          <a:xfrm>
            <a:off x="2596896" y="3877056"/>
            <a:ext cx="109728" cy="109728"/>
          </a:xfrm>
          <a:prstGeom prst="ellipse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27" name="wire"/>
          <p:cNvSpPr/>
          <p:nvPr/>
        </p:nvSpPr>
        <p:spPr>
          <a:xfrm>
            <a:off x="2651760" y="2468880"/>
            <a:ext cx="365760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28" name="junction"/>
          <p:cNvSpPr/>
          <p:nvPr/>
        </p:nvSpPr>
        <p:spPr>
          <a:xfrm>
            <a:off x="2596896" y="2414016"/>
            <a:ext cx="109728" cy="10972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9" name="wire"/>
          <p:cNvSpPr/>
          <p:nvPr/>
        </p:nvSpPr>
        <p:spPr>
          <a:xfrm>
            <a:off x="3840480" y="1325880"/>
            <a:ext cx="0" cy="502920"/>
          </a:xfrm>
          <a:prstGeom prst="line">
            <a:avLst/>
          </a:prstGeom>
          <a:noFill/>
          <a:ln w="38100">
            <a:solidFill>
              <a:srgbClr val="C93C3C"/>
            </a:solidFill>
            <a:prstDash val="solid"/>
          </a:ln>
        </p:spPr>
      </p:sp>
      <p:sp>
        <p:nvSpPr>
          <p:cNvPr id="30" name="wire"/>
          <p:cNvSpPr/>
          <p:nvPr/>
        </p:nvSpPr>
        <p:spPr>
          <a:xfrm>
            <a:off x="3840480" y="2286000"/>
            <a:ext cx="0" cy="777240"/>
          </a:xfrm>
          <a:prstGeom prst="line">
            <a:avLst/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31" name="wire"/>
          <p:cNvSpPr/>
          <p:nvPr/>
        </p:nvSpPr>
        <p:spPr>
          <a:xfrm>
            <a:off x="3840480" y="3520440"/>
            <a:ext cx="0" cy="411480"/>
          </a:xfrm>
          <a:prstGeom prst="line">
            <a:avLst/>
          </a:prstGeom>
          <a:noFill/>
          <a:ln w="38100">
            <a:solidFill>
              <a:srgbClr val="0B1F2E"/>
            </a:solidFill>
            <a:prstDash val="solid"/>
          </a:ln>
        </p:spPr>
      </p:sp>
      <p:sp>
        <p:nvSpPr>
          <p:cNvPr id="32" name="junction"/>
          <p:cNvSpPr/>
          <p:nvPr/>
        </p:nvSpPr>
        <p:spPr>
          <a:xfrm>
            <a:off x="3785616" y="1271016"/>
            <a:ext cx="109728" cy="109728"/>
          </a:xfrm>
          <a:prstGeom prst="ellipse">
            <a:avLst/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33" name="junction"/>
          <p:cNvSpPr/>
          <p:nvPr/>
        </p:nvSpPr>
        <p:spPr>
          <a:xfrm>
            <a:off x="3785616" y="3877056"/>
            <a:ext cx="109728" cy="109728"/>
          </a:xfrm>
          <a:prstGeom prst="ellipse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4" name="wire"/>
          <p:cNvSpPr/>
          <p:nvPr/>
        </p:nvSpPr>
        <p:spPr>
          <a:xfrm>
            <a:off x="3840480" y="2651760"/>
            <a:ext cx="2468880" cy="0"/>
          </a:xfrm>
          <a:prstGeom prst="line">
            <a:avLst/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35" name="junction"/>
          <p:cNvSpPr/>
          <p:nvPr/>
        </p:nvSpPr>
        <p:spPr>
          <a:xfrm>
            <a:off x="3785616" y="2596896"/>
            <a:ext cx="109728" cy="109728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6" name="wire"/>
          <p:cNvSpPr/>
          <p:nvPr/>
        </p:nvSpPr>
        <p:spPr>
          <a:xfrm>
            <a:off x="5029200" y="1325880"/>
            <a:ext cx="0" cy="502920"/>
          </a:xfrm>
          <a:prstGeom prst="line">
            <a:avLst/>
          </a:prstGeom>
          <a:noFill/>
          <a:ln w="38100">
            <a:solidFill>
              <a:srgbClr val="C93C3C"/>
            </a:solidFill>
            <a:prstDash val="solid"/>
          </a:ln>
        </p:spPr>
      </p:sp>
      <p:sp>
        <p:nvSpPr>
          <p:cNvPr id="37" name="wire"/>
          <p:cNvSpPr/>
          <p:nvPr/>
        </p:nvSpPr>
        <p:spPr>
          <a:xfrm>
            <a:off x="5029200" y="2286000"/>
            <a:ext cx="0" cy="777240"/>
          </a:xfrm>
          <a:prstGeom prst="line">
            <a:avLst/>
          </a:prstGeom>
          <a:noFill/>
          <a:ln w="38100">
            <a:solidFill>
              <a:srgbClr val="4C9BD6"/>
            </a:solidFill>
            <a:prstDash val="solid"/>
          </a:ln>
        </p:spPr>
      </p:sp>
      <p:sp>
        <p:nvSpPr>
          <p:cNvPr id="38" name="wire"/>
          <p:cNvSpPr/>
          <p:nvPr/>
        </p:nvSpPr>
        <p:spPr>
          <a:xfrm>
            <a:off x="5029200" y="3520440"/>
            <a:ext cx="0" cy="411480"/>
          </a:xfrm>
          <a:prstGeom prst="line">
            <a:avLst/>
          </a:prstGeom>
          <a:noFill/>
          <a:ln w="38100">
            <a:solidFill>
              <a:srgbClr val="0B1F2E"/>
            </a:solidFill>
            <a:prstDash val="solid"/>
          </a:ln>
        </p:spPr>
      </p:sp>
      <p:sp>
        <p:nvSpPr>
          <p:cNvPr id="39" name="junction"/>
          <p:cNvSpPr/>
          <p:nvPr/>
        </p:nvSpPr>
        <p:spPr>
          <a:xfrm>
            <a:off x="4974336" y="1271016"/>
            <a:ext cx="109728" cy="109728"/>
          </a:xfrm>
          <a:prstGeom prst="ellipse">
            <a:avLst/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40" name="junction"/>
          <p:cNvSpPr/>
          <p:nvPr/>
        </p:nvSpPr>
        <p:spPr>
          <a:xfrm>
            <a:off x="4974336" y="3877056"/>
            <a:ext cx="109728" cy="109728"/>
          </a:xfrm>
          <a:prstGeom prst="ellipse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41" name="wire"/>
          <p:cNvSpPr/>
          <p:nvPr/>
        </p:nvSpPr>
        <p:spPr>
          <a:xfrm>
            <a:off x="5029200" y="2834640"/>
            <a:ext cx="1280160" cy="0"/>
          </a:xfrm>
          <a:prstGeom prst="line">
            <a:avLst/>
          </a:prstGeom>
          <a:noFill/>
          <a:ln w="38100">
            <a:solidFill>
              <a:srgbClr val="4C9BD6"/>
            </a:solidFill>
            <a:prstDash val="solid"/>
          </a:ln>
        </p:spPr>
      </p:sp>
      <p:sp>
        <p:nvSpPr>
          <p:cNvPr id="42" name="junction"/>
          <p:cNvSpPr/>
          <p:nvPr/>
        </p:nvSpPr>
        <p:spPr>
          <a:xfrm>
            <a:off x="4974336" y="2779776"/>
            <a:ext cx="109728" cy="109728"/>
          </a:xfrm>
          <a:prstGeom prst="ellipse">
            <a:avLst/>
          </a:prstGeom>
          <a:solidFill>
            <a:srgbClr val="4C9BD6"/>
          </a:solidFill>
          <a:ln w="12700">
            <a:solidFill>
              <a:srgbClr val="4C9BD6"/>
            </a:solidFill>
            <a:prstDash val="solid"/>
          </a:ln>
        </p:spPr>
      </p:sp>
      <p:sp>
        <p:nvSpPr>
          <p:cNvPr id="43" name="Ga(H)"/>
          <p:cNvSpPr/>
          <p:nvPr/>
        </p:nvSpPr>
        <p:spPr>
          <a:xfrm>
            <a:off x="2286000" y="182880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28600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Ga(H)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45" name="Ga(L)"/>
          <p:cNvSpPr/>
          <p:nvPr/>
        </p:nvSpPr>
        <p:spPr>
          <a:xfrm>
            <a:off x="2286000" y="306324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28600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Ga(L)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47" name="Gb(H)"/>
          <p:cNvSpPr/>
          <p:nvPr/>
        </p:nvSpPr>
        <p:spPr>
          <a:xfrm>
            <a:off x="3474720" y="182880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7472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Gb(H)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49" name="Gb(L)"/>
          <p:cNvSpPr/>
          <p:nvPr/>
        </p:nvSpPr>
        <p:spPr>
          <a:xfrm>
            <a:off x="3474720" y="306324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4747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Gb(L)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51" name="Gc(H)"/>
          <p:cNvSpPr/>
          <p:nvPr/>
        </p:nvSpPr>
        <p:spPr>
          <a:xfrm>
            <a:off x="4663440" y="182880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6344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Gc(H)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53" name="Gc(L)"/>
          <p:cNvSpPr/>
          <p:nvPr/>
        </p:nvSpPr>
        <p:spPr>
          <a:xfrm>
            <a:off x="4663440" y="3063240"/>
            <a:ext cx="7315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66344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Gc(L)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+ diode</a:t>
            </a:r>
            <a:endParaRPr lang="en-US" sz="1100" dirty="0"/>
          </a:p>
        </p:txBody>
      </p:sp>
      <p:sp>
        <p:nvSpPr>
          <p:cNvPr id="55" name="BLDC motor"/>
          <p:cNvSpPr/>
          <p:nvPr/>
        </p:nvSpPr>
        <p:spPr>
          <a:xfrm>
            <a:off x="6309360" y="2011680"/>
            <a:ext cx="128016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83680" y="22860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Motor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6382512" y="23682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6382512" y="2551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382512" y="27340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</a:t>
            </a:r>
            <a:endParaRPr lang="en-US" sz="1100" dirty="0"/>
          </a:p>
        </p:txBody>
      </p:sp>
      <p:sp>
        <p:nvSpPr>
          <p:cNvPr id="60" name="wire"/>
          <p:cNvSpPr/>
          <p:nvPr/>
        </p:nvSpPr>
        <p:spPr>
          <a:xfrm>
            <a:off x="7589520" y="2651760"/>
            <a:ext cx="228600" cy="0"/>
          </a:xfrm>
          <a:prstGeom prst="line">
            <a:avLst/>
          </a:prstGeom>
          <a:noFill/>
          <a:ln w="50800">
            <a:solidFill>
              <a:srgbClr val="0B1F2E"/>
            </a:solidFill>
            <a:prstDash val="solid"/>
          </a:ln>
        </p:spPr>
      </p:sp>
      <p:sp>
        <p:nvSpPr>
          <p:cNvPr id="61" name="load"/>
          <p:cNvSpPr/>
          <p:nvPr/>
        </p:nvSpPr>
        <p:spPr>
          <a:xfrm>
            <a:off x="7818120" y="2286000"/>
            <a:ext cx="868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818120" y="22860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(J, T)</a:t>
            </a:r>
            <a:endParaRPr lang="en-US" sz="1100" dirty="0"/>
          </a:p>
        </p:txBody>
      </p:sp>
      <p:sp>
        <p:nvSpPr>
          <p:cNvPr id="63" name="note"/>
          <p:cNvSpPr/>
          <p:nvPr/>
        </p:nvSpPr>
        <p:spPr>
          <a:xfrm>
            <a:off x="6309360" y="118872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00800" y="1188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Motor thermal ports and rotor speed feed the temperature and vibration subsystems.</a:t>
            </a:r>
            <a:endParaRPr lang="en-US" sz="1050" dirty="0"/>
          </a:p>
        </p:txBody>
      </p:sp>
      <p:sp>
        <p:nvSpPr>
          <p:cNvPr id="65" name="wire"/>
          <p:cNvSpPr/>
          <p:nvPr/>
        </p:nvSpPr>
        <p:spPr>
          <a:xfrm flipV="1">
            <a:off x="3840480" y="3794760"/>
            <a:ext cx="0" cy="320040"/>
          </a:xfrm>
          <a:prstGeom prst="line">
            <a:avLst/>
          </a:prstGeom>
          <a:noFill/>
          <a:ln w="3175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66" name="commutation"/>
          <p:cNvSpPr/>
          <p:nvPr/>
        </p:nvSpPr>
        <p:spPr>
          <a:xfrm>
            <a:off x="2286000" y="4114800"/>
            <a:ext cx="338328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28600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Commutation logic (MATLAB function)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fixed duty 0.3 · carrier · 2 pole pairs · no speed loop</a:t>
            </a:r>
            <a:endParaRPr lang="en-US" sz="1100" dirty="0"/>
          </a:p>
        </p:txBody>
      </p:sp>
      <p:sp>
        <p:nvSpPr>
          <p:cNvPr id="68" name="wire"/>
          <p:cNvSpPr/>
          <p:nvPr/>
        </p:nvSpPr>
        <p:spPr>
          <a:xfrm>
            <a:off x="6949440" y="3291840"/>
            <a:ext cx="0" cy="105156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69" name="wire"/>
          <p:cNvSpPr/>
          <p:nvPr/>
        </p:nvSpPr>
        <p:spPr>
          <a:xfrm flipH="1">
            <a:off x="5669280" y="4343400"/>
            <a:ext cx="12801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70" name="Text 67"/>
          <p:cNvSpPr txBox="1"/>
          <p:nvPr/>
        </p:nvSpPr>
        <p:spPr>
          <a:xfrm>
            <a:off x="5806440" y="41148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Hall HA, HB, HC (rotor position)</a:t>
            </a:r>
            <a:endParaRPr lang="en-US" sz="1050" dirty="0"/>
          </a:p>
        </p:txBody>
      </p:sp>
      <p:sp>
        <p:nvSpPr>
          <p:cNvPr id="71" name="legend"/>
          <p:cNvSpPr/>
          <p:nvPr/>
        </p:nvSpPr>
        <p:spPr>
          <a:xfrm>
            <a:off x="457200" y="4069080"/>
            <a:ext cx="16916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548640" y="4069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  Current sensor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  Voltage sensor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Commutation &amp; Power Stage</a:t>
            </a:r>
            <a:endParaRPr lang="en-US" sz="3000" dirty="0"/>
          </a:p>
        </p:txBody>
      </p:sp>
      <p:sp>
        <p:nvSpPr>
          <p:cNvPr id="4" name="stage card"/>
          <p:cNvSpPr/>
          <p:nvPr/>
        </p:nvSpPr>
        <p:spPr>
          <a:xfrm>
            <a:off x="457200" y="123444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mmutation Logic badge"/>
          <p:cNvSpPr/>
          <p:nvPr/>
        </p:nvSpPr>
        <p:spPr>
          <a:xfrm>
            <a:off x="594360" y="14904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Commutation Log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16202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Commutation Logic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1618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Uses rotor position feedback to generate the gate-switching sequence for electronic commutation.</a:t>
            </a:r>
            <a:endParaRPr lang="en-US" sz="1200" dirty="0"/>
          </a:p>
        </p:txBody>
      </p:sp>
      <p:sp>
        <p:nvSpPr>
          <p:cNvPr id="9" name="stage card"/>
          <p:cNvSpPr/>
          <p:nvPr/>
        </p:nvSpPr>
        <p:spPr>
          <a:xfrm>
            <a:off x="457200" y="233172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ree-Phase Power Converter badge"/>
          <p:cNvSpPr/>
          <p:nvPr/>
        </p:nvSpPr>
        <p:spPr>
          <a:xfrm>
            <a:off x="59436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Three-Phase Power Conver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71348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Three-Phase Power Converter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27157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Switches chop the 24 V DC input into regulated three-phase PWM voltages for the motor phases.</a:t>
            </a:r>
            <a:endParaRPr lang="en-US" sz="1200" dirty="0"/>
          </a:p>
        </p:txBody>
      </p:sp>
      <p:sp>
        <p:nvSpPr>
          <p:cNvPr id="14" name="stage card"/>
          <p:cNvSpPr/>
          <p:nvPr/>
        </p:nvSpPr>
        <p:spPr>
          <a:xfrm>
            <a:off x="457200" y="342900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LDC Motor Block badge"/>
          <p:cNvSpPr/>
          <p:nvPr/>
        </p:nvSpPr>
        <p:spPr>
          <a:xfrm>
            <a:off x="594360" y="36850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BLDC Motor B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810762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BLDC Motor Block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3813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Simscape model that converts electrical energy into mechanical rotation and torque.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Sector table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840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2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 side (PWM)</a:t>
                      </a:r>
                      <a:endParaRPr lang="en-US" sz="12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Low side (on)</a:t>
                      </a:r>
                      <a:endParaRPr lang="en-US" sz="12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Floating</a:t>
                      </a:r>
                      <a:endParaRPr lang="en-US" sz="12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E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Gating Signals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34440"/>
            <a:ext cx="5760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Gating sign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569"/>
            <a:ext cx="5760720" cy="3109582"/>
          </a:xfrm>
          <a:prstGeom prst="rect">
            <a:avLst/>
          </a:prstGeom>
        </p:spPr>
      </p:pic>
      <p:sp>
        <p:nvSpPr>
          <p:cNvPr id="6" name="gate note"/>
          <p:cNvSpPr/>
          <p:nvPr/>
        </p:nvSpPr>
        <p:spPr>
          <a:xfrm>
            <a:off x="6400800" y="1234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High side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Switched with PWM chopping</a:t>
            </a:r>
            <a:endParaRPr lang="en-US" sz="1250" dirty="0"/>
          </a:p>
        </p:txBody>
      </p:sp>
      <p:sp>
        <p:nvSpPr>
          <p:cNvPr id="9" name="gate note"/>
          <p:cNvSpPr/>
          <p:nvPr/>
        </p:nvSpPr>
        <p:spPr>
          <a:xfrm>
            <a:off x="6400800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3796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Low side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2834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Held ON during its sector</a:t>
            </a:r>
            <a:endParaRPr lang="en-US" sz="1250" dirty="0"/>
          </a:p>
        </p:txBody>
      </p:sp>
      <p:sp>
        <p:nvSpPr>
          <p:cNvPr id="12" name="gate note"/>
          <p:cNvSpPr/>
          <p:nvPr/>
        </p:nvSpPr>
        <p:spPr>
          <a:xfrm>
            <a:off x="6400800" y="3520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37960" y="3630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Sector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Chosen from rotor position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Voltage &amp; Current Waveforms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34440"/>
            <a:ext cx="4754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Phase voltage and curr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3733"/>
            <a:ext cx="4754880" cy="267889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Top: phase A voltage  ·  Bottom: phase A current</a:t>
            </a:r>
            <a:endParaRPr lang="en-US" sz="1200" dirty="0"/>
          </a:p>
        </p:txBody>
      </p:sp>
      <p:sp>
        <p:nvSpPr>
          <p:cNvPr id="7" name="stage row"/>
          <p:cNvSpPr/>
          <p:nvPr/>
        </p:nvSpPr>
        <p:spPr>
          <a:xfrm>
            <a:off x="5394960" y="123444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ge number"/>
          <p:cNvSpPr/>
          <p:nvPr/>
        </p:nvSpPr>
        <p:spPr>
          <a:xfrm>
            <a:off x="5486400" y="13075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925312" y="12344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 side 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V · current negative, growing</a:t>
            </a:r>
            <a:endParaRPr lang="en-US" sz="1200" dirty="0"/>
          </a:p>
        </p:txBody>
      </p:sp>
      <p:sp>
        <p:nvSpPr>
          <p:cNvPr id="11" name="stage row"/>
          <p:cNvSpPr/>
          <p:nvPr/>
        </p:nvSpPr>
        <p:spPr>
          <a:xfrm>
            <a:off x="5394960" y="178308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ge number"/>
          <p:cNvSpPr/>
          <p:nvPr/>
        </p:nvSpPr>
        <p:spPr>
          <a:xfrm>
            <a:off x="5486400" y="18562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925312" y="17830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 side turns off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Spike to 24 V · current falls to 0</a:t>
            </a:r>
            <a:endParaRPr lang="en-US" sz="1200" dirty="0"/>
          </a:p>
        </p:txBody>
      </p:sp>
      <p:sp>
        <p:nvSpPr>
          <p:cNvPr id="15" name="stage row"/>
          <p:cNvSpPr/>
          <p:nvPr/>
        </p:nvSpPr>
        <p:spPr>
          <a:xfrm>
            <a:off x="5394960" y="233172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ge number"/>
          <p:cNvSpPr/>
          <p:nvPr/>
        </p:nvSpPr>
        <p:spPr>
          <a:xfrm>
            <a:off x="5486400" y="24048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925312" y="233172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Phase open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Voltage follows back-EMF · current 0</a:t>
            </a:r>
            <a:endParaRPr lang="en-US" sz="1200" dirty="0"/>
          </a:p>
        </p:txBody>
      </p:sp>
      <p:sp>
        <p:nvSpPr>
          <p:cNvPr id="19" name="stage row"/>
          <p:cNvSpPr/>
          <p:nvPr/>
        </p:nvSpPr>
        <p:spPr>
          <a:xfrm>
            <a:off x="5394960" y="288036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age number"/>
          <p:cNvSpPr/>
          <p:nvPr/>
        </p:nvSpPr>
        <p:spPr>
          <a:xfrm>
            <a:off x="5486400" y="29535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925312" y="28803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High side PWM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Dense 24 V pulses · current rises</a:t>
            </a:r>
            <a:endParaRPr lang="en-US" sz="1200" dirty="0"/>
          </a:p>
        </p:txBody>
      </p:sp>
      <p:sp>
        <p:nvSpPr>
          <p:cNvPr id="23" name="stage row"/>
          <p:cNvSpPr/>
          <p:nvPr/>
        </p:nvSpPr>
        <p:spPr>
          <a:xfrm>
            <a:off x="5394960" y="342900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age number"/>
          <p:cNvSpPr/>
          <p:nvPr/>
        </p:nvSpPr>
        <p:spPr>
          <a:xfrm>
            <a:off x="5486400" y="35021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925312" y="3429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Both OFF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Flat −1 V · current decays slowly</a:t>
            </a:r>
            <a:endParaRPr lang="en-US" sz="1200" dirty="0"/>
          </a:p>
        </p:txBody>
      </p:sp>
      <p:sp>
        <p:nvSpPr>
          <p:cNvPr id="27" name="stage row"/>
          <p:cNvSpPr/>
          <p:nvPr/>
        </p:nvSpPr>
        <p:spPr>
          <a:xfrm>
            <a:off x="5394960" y="3977640"/>
            <a:ext cx="329184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age number"/>
          <p:cNvSpPr/>
          <p:nvPr/>
        </p:nvSpPr>
        <p:spPr>
          <a:xfrm>
            <a:off x="5486400" y="40507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925312" y="39776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 side ON again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Back to 0 V · cycle repeats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A: Gating vs Response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34440"/>
            <a:ext cx="5760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Phase A gating, voltage and curr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9391"/>
            <a:ext cx="5760720" cy="3141938"/>
          </a:xfrm>
          <a:prstGeom prst="rect">
            <a:avLst/>
          </a:prstGeom>
        </p:spPr>
      </p:pic>
      <p:sp>
        <p:nvSpPr>
          <p:cNvPr id="6" name="gate note"/>
          <p:cNvSpPr/>
          <p:nvPr/>
        </p:nvSpPr>
        <p:spPr>
          <a:xfrm>
            <a:off x="6400800" y="1234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Ga(H) bursts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PWM bursts produce the voltage pulses</a:t>
            </a:r>
            <a:endParaRPr lang="en-US" sz="1200" dirty="0"/>
          </a:p>
        </p:txBody>
      </p:sp>
      <p:sp>
        <p:nvSpPr>
          <p:cNvPr id="9" name="gate note"/>
          <p:cNvSpPr/>
          <p:nvPr/>
        </p:nvSpPr>
        <p:spPr>
          <a:xfrm>
            <a:off x="6400800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3796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Ga(L) pulses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2834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V and negative current while the low side conducts</a:t>
            </a:r>
            <a:endParaRPr lang="en-US" sz="1200" dirty="0"/>
          </a:p>
        </p:txBody>
      </p:sp>
      <p:sp>
        <p:nvSpPr>
          <p:cNvPr id="12" name="gate note"/>
          <p:cNvSpPr/>
          <p:nvPr/>
        </p:nvSpPr>
        <p:spPr>
          <a:xfrm>
            <a:off x="6400800" y="3520440"/>
            <a:ext cx="22860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37960" y="3630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cycle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 repeats with the commutation pattern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Load &amp; Vibration Subsystems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Load subsystem</a:t>
            </a:r>
            <a:endParaRPr lang="en-US" sz="1500" dirty="0"/>
          </a:p>
        </p:txBody>
      </p:sp>
      <p:sp>
        <p:nvSpPr>
          <p:cNvPr id="5" name="image frame"/>
          <p:cNvSpPr/>
          <p:nvPr/>
        </p:nvSpPr>
        <p:spPr>
          <a:xfrm>
            <a:off x="457200" y="1508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6" name="Image 0" descr="Load sub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4990"/>
            <a:ext cx="4023360" cy="191065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03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Generates the mechanical resistance the motor works against. It takes rotor speed, adds drag and step loads in a Sum block, and drives the Ideal Torque Source to brake the shaft.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Vibration subsystem</a:t>
            </a:r>
            <a:endParaRPr lang="en-US" sz="1500" dirty="0"/>
          </a:p>
        </p:txBody>
      </p:sp>
      <p:sp>
        <p:nvSpPr>
          <p:cNvPr id="9" name="image frame"/>
          <p:cNvSpPr/>
          <p:nvPr/>
        </p:nvSpPr>
        <p:spPr>
          <a:xfrm>
            <a:off x="4663440" y="1508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1" descr="Vibration sub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97389"/>
            <a:ext cx="4023360" cy="192586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3440" y="3703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Rotor position goes through a sine block and gain 0.05 into the load Sum block to inject ripple. Detection: filtered speed difference, low-pass filter, compare &gt; 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Current &amp; Voltage Subsystems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Current subsystem</a:t>
            </a:r>
            <a:endParaRPr lang="en-US" sz="1500" dirty="0"/>
          </a:p>
        </p:txBody>
      </p:sp>
      <p:sp>
        <p:nvSpPr>
          <p:cNvPr id="5" name="image frame"/>
          <p:cNvSpPr/>
          <p:nvPr/>
        </p:nvSpPr>
        <p:spPr>
          <a:xfrm>
            <a:off x="457200" y="1508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6" name="Image 0" descr="Current sub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4176"/>
            <a:ext cx="4023360" cy="183228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03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Phase current is low-pass filtered to strip PWM noise, compared with 0.9 A and gated by a step enable to raise the fault flag.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Voltage subsystem</a:t>
            </a:r>
            <a:endParaRPr lang="en-US" sz="1500" dirty="0"/>
          </a:p>
        </p:txBody>
      </p:sp>
      <p:sp>
        <p:nvSpPr>
          <p:cNvPr id="9" name="image frame"/>
          <p:cNvSpPr/>
          <p:nvPr/>
        </p:nvSpPr>
        <p:spPr>
          <a:xfrm>
            <a:off x="4663440" y="15087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1" descr="Voltage sub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010" y="1508760"/>
            <a:ext cx="2776220" cy="2103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3440" y="37033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voltage sensor across the DC link feeds a compare-to-constant (&gt; 24) block that sets the over-voltage flag.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Temperature Subsystem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34440"/>
            <a:ext cx="5303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Temperature sub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15626"/>
            <a:ext cx="5303520" cy="2672267"/>
          </a:xfrm>
          <a:prstGeom prst="rect">
            <a:avLst/>
          </a:prstGeom>
        </p:spPr>
      </p:pic>
      <p:sp>
        <p:nvSpPr>
          <p:cNvPr id="6" name="temp note"/>
          <p:cNvSpPr/>
          <p:nvPr/>
        </p:nvSpPr>
        <p:spPr>
          <a:xfrm>
            <a:off x="594360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80760" y="1344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Thermal path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080760" y="1691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BLDC thermal ports (HA, HB, HC, HR) connect through a 2 K/W thermal resistance to a 30 °C ambient source.</a:t>
            </a:r>
            <a:endParaRPr lang="en-US" sz="1200" dirty="0"/>
          </a:p>
        </p:txBody>
      </p:sp>
      <p:sp>
        <p:nvSpPr>
          <p:cNvPr id="9" name="temp note"/>
          <p:cNvSpPr/>
          <p:nvPr/>
        </p:nvSpPr>
        <p:spPr>
          <a:xfrm>
            <a:off x="5943600" y="2697480"/>
            <a:ext cx="27432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080760" y="2807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Detection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3154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Sensor output in kelvin minus 273.15 gives °C; a compare block flags a fault above 70 °C.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Current Output</a:t>
            </a:r>
            <a:endParaRPr lang="en-US" sz="3000" dirty="0"/>
          </a:p>
        </p:txBody>
      </p:sp>
      <p:sp>
        <p:nvSpPr>
          <p:cNvPr id="4" name="condition"/>
          <p:cNvSpPr/>
          <p:nvPr/>
        </p:nvSpPr>
        <p:spPr>
          <a:xfrm>
            <a:off x="457200" y="118872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Condition: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fault is triggered whenever the motor current exceeds 0.9 A.</a:t>
            </a:r>
            <a:endParaRPr lang="en-US" sz="1300" dirty="0"/>
          </a:p>
        </p:txBody>
      </p:sp>
      <p:sp>
        <p:nvSpPr>
          <p:cNvPr id="6" name="NORMAL tag"/>
          <p:cNvSpPr/>
          <p:nvPr/>
        </p:nvSpPr>
        <p:spPr>
          <a:xfrm>
            <a:off x="45720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NORMAL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fault flag · Bottom: current</a:t>
            </a:r>
            <a:endParaRPr lang="en-US" sz="1100" dirty="0"/>
          </a:p>
        </p:txBody>
      </p:sp>
      <p:sp>
        <p:nvSpPr>
          <p:cNvPr id="9" name="image frame"/>
          <p:cNvSpPr/>
          <p:nvPr/>
        </p:nvSpPr>
        <p:spPr>
          <a:xfrm>
            <a:off x="45720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0" descr="NORMAL 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37" y="2057400"/>
            <a:ext cx="2973885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Steady state: the motor draws 0.5068 A against a load torque of −0.01841 N·m.</a:t>
            </a:r>
            <a:endParaRPr lang="en-US" sz="1200" dirty="0"/>
          </a:p>
        </p:txBody>
      </p:sp>
      <p:sp>
        <p:nvSpPr>
          <p:cNvPr id="12" name="FAULT tag"/>
          <p:cNvSpPr/>
          <p:nvPr/>
        </p:nvSpPr>
        <p:spPr>
          <a:xfrm>
            <a:off x="466344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fault flag · Bottom: current</a:t>
            </a:r>
            <a:endParaRPr lang="en-US" sz="1100" dirty="0"/>
          </a:p>
        </p:txBody>
      </p:sp>
      <p:sp>
        <p:nvSpPr>
          <p:cNvPr id="15" name="image frame"/>
          <p:cNvSpPr/>
          <p:nvPr/>
        </p:nvSpPr>
        <p:spPr>
          <a:xfrm>
            <a:off x="466344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6" name="Image 1" descr="FAULT wave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410" y="2057400"/>
            <a:ext cx="3037420" cy="21031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 surges to 1.357 A against an opposing torque of −0.1554 N·m; the flag goes high.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Voltage Output</a:t>
            </a:r>
            <a:endParaRPr lang="en-US" sz="3000" dirty="0"/>
          </a:p>
        </p:txBody>
      </p:sp>
      <p:sp>
        <p:nvSpPr>
          <p:cNvPr id="4" name="condition"/>
          <p:cNvSpPr/>
          <p:nvPr/>
        </p:nvSpPr>
        <p:spPr>
          <a:xfrm>
            <a:off x="457200" y="118872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Condition: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over-voltage is detected whenever the supply voltage rises above 24 V.</a:t>
            </a:r>
            <a:endParaRPr lang="en-US" sz="1300" dirty="0"/>
          </a:p>
        </p:txBody>
      </p:sp>
      <p:sp>
        <p:nvSpPr>
          <p:cNvPr id="6" name="NORMAL tag"/>
          <p:cNvSpPr/>
          <p:nvPr/>
        </p:nvSpPr>
        <p:spPr>
          <a:xfrm>
            <a:off x="45720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NORMAL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supply voltage · Bottom: fault flag</a:t>
            </a:r>
            <a:endParaRPr lang="en-US" sz="1100" dirty="0"/>
          </a:p>
        </p:txBody>
      </p:sp>
      <p:sp>
        <p:nvSpPr>
          <p:cNvPr id="9" name="image frame"/>
          <p:cNvSpPr/>
          <p:nvPr/>
        </p:nvSpPr>
        <p:spPr>
          <a:xfrm>
            <a:off x="45720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0" descr="NORMAL 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433" y="2057400"/>
            <a:ext cx="2924895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Stable input and output voltage of 24 V; no fault.</a:t>
            </a:r>
            <a:endParaRPr lang="en-US" sz="1200" dirty="0"/>
          </a:p>
        </p:txBody>
      </p:sp>
      <p:sp>
        <p:nvSpPr>
          <p:cNvPr id="12" name="FAULT tag"/>
          <p:cNvSpPr/>
          <p:nvPr/>
        </p:nvSpPr>
        <p:spPr>
          <a:xfrm>
            <a:off x="466344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supply voltage · Bottom: fault flag</a:t>
            </a:r>
            <a:endParaRPr lang="en-US" sz="1100" dirty="0"/>
          </a:p>
        </p:txBody>
      </p:sp>
      <p:sp>
        <p:nvSpPr>
          <p:cNvPr id="15" name="image frame"/>
          <p:cNvSpPr/>
          <p:nvPr/>
        </p:nvSpPr>
        <p:spPr>
          <a:xfrm>
            <a:off x="466344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6" name="Image 1" descr="FAULT wave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74" y="2057400"/>
            <a:ext cx="2977092" cy="21031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Supply raised to the fault level of 30 V; the over-voltage flag is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Vibration Output</a:t>
            </a:r>
            <a:endParaRPr lang="en-US" sz="3000" dirty="0"/>
          </a:p>
        </p:txBody>
      </p:sp>
      <p:sp>
        <p:nvSpPr>
          <p:cNvPr id="4" name="condition"/>
          <p:cNvSpPr/>
          <p:nvPr/>
        </p:nvSpPr>
        <p:spPr>
          <a:xfrm>
            <a:off x="457200" y="118872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Condition: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high-vibration fault is registered whenever the output exceeds 2.</a:t>
            </a:r>
            <a:endParaRPr lang="en-US" sz="1300" dirty="0"/>
          </a:p>
        </p:txBody>
      </p:sp>
      <p:sp>
        <p:nvSpPr>
          <p:cNvPr id="6" name="NORMAL tag"/>
          <p:cNvSpPr/>
          <p:nvPr/>
        </p:nvSpPr>
        <p:spPr>
          <a:xfrm>
            <a:off x="45720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NORMAL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vibration · Bottom: fault flag</a:t>
            </a:r>
            <a:endParaRPr lang="en-US" sz="1100" dirty="0"/>
          </a:p>
        </p:txBody>
      </p:sp>
      <p:sp>
        <p:nvSpPr>
          <p:cNvPr id="9" name="image frame"/>
          <p:cNvSpPr/>
          <p:nvPr/>
        </p:nvSpPr>
        <p:spPr>
          <a:xfrm>
            <a:off x="45720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0" descr="NORMAL 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55" y="2057400"/>
            <a:ext cx="3053050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Vibration level of 0.5147 with zero torque ripple.</a:t>
            </a:r>
            <a:endParaRPr lang="en-US" sz="1200" dirty="0"/>
          </a:p>
        </p:txBody>
      </p:sp>
      <p:sp>
        <p:nvSpPr>
          <p:cNvPr id="12" name="FAULT tag"/>
          <p:cNvSpPr/>
          <p:nvPr/>
        </p:nvSpPr>
        <p:spPr>
          <a:xfrm>
            <a:off x="466344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vibration · Bottom: fault flag</a:t>
            </a:r>
            <a:endParaRPr lang="en-US" sz="1100" dirty="0"/>
          </a:p>
        </p:txBody>
      </p:sp>
      <p:sp>
        <p:nvSpPr>
          <p:cNvPr id="15" name="image frame"/>
          <p:cNvSpPr/>
          <p:nvPr/>
        </p:nvSpPr>
        <p:spPr>
          <a:xfrm>
            <a:off x="466344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6" name="Image 1" descr="FAULT wave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296" y="2057400"/>
            <a:ext cx="3087648" cy="21031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With the ripple circuit active the output reaches 3.459 (torque ripple 0.002688); the flag is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Temperature Output</a:t>
            </a:r>
            <a:endParaRPr lang="en-US" sz="3000" dirty="0"/>
          </a:p>
        </p:txBody>
      </p:sp>
      <p:sp>
        <p:nvSpPr>
          <p:cNvPr id="4" name="condition"/>
          <p:cNvSpPr/>
          <p:nvPr/>
        </p:nvSpPr>
        <p:spPr>
          <a:xfrm>
            <a:off x="457200" y="118872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Condition: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thermal fault is activated whenever the internal temperature exceeds 70 °C.</a:t>
            </a:r>
            <a:endParaRPr lang="en-US" sz="1300" dirty="0"/>
          </a:p>
        </p:txBody>
      </p:sp>
      <p:sp>
        <p:nvSpPr>
          <p:cNvPr id="6" name="NORMAL tag"/>
          <p:cNvSpPr/>
          <p:nvPr/>
        </p:nvSpPr>
        <p:spPr>
          <a:xfrm>
            <a:off x="45720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NORMAL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temperature · Bottom: fault flag</a:t>
            </a:r>
            <a:endParaRPr lang="en-US" sz="1100" dirty="0"/>
          </a:p>
        </p:txBody>
      </p:sp>
      <p:sp>
        <p:nvSpPr>
          <p:cNvPr id="9" name="image frame"/>
          <p:cNvSpPr/>
          <p:nvPr/>
        </p:nvSpPr>
        <p:spPr>
          <a:xfrm>
            <a:off x="45720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0" name="Image 0" descr="NORMAL wave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356" y="2057400"/>
            <a:ext cx="3281048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Motor temperature settles at 50.72 °C against a 30 °C (303.1 K) ambient.</a:t>
            </a:r>
            <a:endParaRPr lang="en-US" sz="1200" dirty="0"/>
          </a:p>
        </p:txBody>
      </p:sp>
      <p:sp>
        <p:nvSpPr>
          <p:cNvPr id="12" name="FAULT tag"/>
          <p:cNvSpPr/>
          <p:nvPr/>
        </p:nvSpPr>
        <p:spPr>
          <a:xfrm>
            <a:off x="4663440" y="1719072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634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Top: temperature · Bottom: fault flag</a:t>
            </a:r>
            <a:endParaRPr lang="en-US" sz="1100" dirty="0"/>
          </a:p>
        </p:txBody>
      </p:sp>
      <p:sp>
        <p:nvSpPr>
          <p:cNvPr id="15" name="image frame"/>
          <p:cNvSpPr/>
          <p:nvPr/>
        </p:nvSpPr>
        <p:spPr>
          <a:xfrm>
            <a:off x="4663440" y="20574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6" name="Image 1" descr="FAULT wave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315" y="2057400"/>
            <a:ext cx="3295611" cy="21031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Trapped heat drives the temperature to 120.1 °C, above the limit; the fault flag is 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Simulation Output: Normal vs Fault</a:t>
            </a:r>
            <a:endParaRPr lang="en-US" sz="3000" dirty="0"/>
          </a:p>
        </p:txBody>
      </p:sp>
      <p:sp>
        <p:nvSpPr>
          <p:cNvPr id="4" name="NORMAL tag"/>
          <p:cNvSpPr/>
          <p:nvPr/>
        </p:nvSpPr>
        <p:spPr>
          <a:xfrm>
            <a:off x="457200" y="11887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NORMAL</a:t>
            </a:r>
            <a:endParaRPr lang="en-US" sz="1100" dirty="0"/>
          </a:p>
        </p:txBody>
      </p:sp>
      <p:sp>
        <p:nvSpPr>
          <p:cNvPr id="6" name="image frame"/>
          <p:cNvSpPr/>
          <p:nvPr/>
        </p:nvSpPr>
        <p:spPr>
          <a:xfrm>
            <a:off x="457200" y="1536192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7" name="Image 0" descr="NORMAL sim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12" y="1536192"/>
            <a:ext cx="3495137" cy="1645920"/>
          </a:xfrm>
          <a:prstGeom prst="rect">
            <a:avLst/>
          </a:prstGeom>
        </p:spPr>
      </p:pic>
      <p:sp>
        <p:nvSpPr>
          <p:cNvPr id="8" name="FAULT tag"/>
          <p:cNvSpPr/>
          <p:nvPr/>
        </p:nvSpPr>
        <p:spPr>
          <a:xfrm>
            <a:off x="4663440" y="11887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</p:txBody>
      </p:sp>
      <p:sp>
        <p:nvSpPr>
          <p:cNvPr id="10" name="image frame"/>
          <p:cNvSpPr/>
          <p:nvPr/>
        </p:nvSpPr>
        <p:spPr>
          <a:xfrm>
            <a:off x="4663440" y="1536192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11" name="Image 1" descr="FAULT simu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923" y="1536192"/>
            <a:ext cx="3480394" cy="164592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Normal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Fault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Fault condition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</a:rPr>
                        <a:t>Current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7A4F"/>
                          </a:solidFill>
                        </a:rPr>
                        <a:t>0.5068 A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030"/>
                          </a:solidFill>
                        </a:rPr>
                        <a:t>1.357 A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</a:rPr>
                        <a:t>&gt; 0.9 A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</a:rPr>
                        <a:t>Voltage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7A4F"/>
                          </a:solidFill>
                        </a:rPr>
                        <a:t>24 V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030"/>
                          </a:solidFill>
                        </a:rPr>
                        <a:t>30 V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</a:rPr>
                        <a:t>&gt; 24 V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</a:rPr>
                        <a:t>Vibration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7A4F"/>
                          </a:solidFill>
                        </a:rPr>
                        <a:t>0.5147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030"/>
                          </a:solidFill>
                        </a:rPr>
                        <a:t>3.459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</a:rPr>
                        <a:t>&gt; 2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E"/>
                          </a:solidFill>
                        </a:rPr>
                        <a:t>Temperature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7A4F"/>
                          </a:solidFill>
                        </a:rPr>
                        <a:t>50.72 °C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030"/>
                          </a:solidFill>
                        </a:rPr>
                        <a:t>120.1 °C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</a:rPr>
                        <a:t>&gt; 70 °C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Simulation vs Hardware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Simulation (MATLAB/Simulink)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Hardware (ESP32 prototype)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Supply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24 V DC source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24 V SMPS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Current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Fault &gt; 0.9 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ACS712-30A on GPIO34 · F01 &gt; 8 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Voltage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Fault &gt; 24 V (30 V injected)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Divider sensor on GPIO35 · F02 &lt; 20 V, F03 &gt; 28 V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Temperature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Fault &gt; 70 °C (thermal model)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DS18B20 on GPIO4 · F04 &gt; 60 °C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Vibration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Fault &gt; 2 (filtered ripple)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MPU6050 · F05 axis &gt; 15 / 15 / 20 m/s²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Status output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Lamps and displays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OLED (12 pages) and Blynk (50 virtual pins)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Thresholds are set separately for the simulated motor and the hardware prototype.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4" name="layer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yer label"/>
          <p:cNvSpPr/>
          <p:nvPr/>
        </p:nvSpPr>
        <p:spPr>
          <a:xfrm>
            <a:off x="457200" y="1188720"/>
            <a:ext cx="137160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Interface</a:t>
            </a:r>
            <a:endParaRPr lang="en-US" sz="1300" dirty="0"/>
          </a:p>
        </p:txBody>
      </p:sp>
      <p:sp>
        <p:nvSpPr>
          <p:cNvPr id="7" name="component"/>
          <p:cNvSpPr/>
          <p:nvPr/>
        </p:nvSpPr>
        <p:spPr>
          <a:xfrm>
            <a:off x="1965960" y="1261872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002536" y="1261872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OLED Display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12 pages</a:t>
            </a:r>
            <a:endParaRPr lang="en-US" sz="1200" dirty="0"/>
          </a:p>
        </p:txBody>
      </p:sp>
      <p:sp>
        <p:nvSpPr>
          <p:cNvPr id="9" name="component"/>
          <p:cNvSpPr/>
          <p:nvPr/>
        </p:nvSpPr>
        <p:spPr>
          <a:xfrm>
            <a:off x="3646170" y="1261872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82746" y="1261872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Wi-Fi</a:t>
            </a:r>
            <a:endParaRPr lang="en-US" sz="1200" dirty="0"/>
          </a:p>
        </p:txBody>
      </p:sp>
      <p:sp>
        <p:nvSpPr>
          <p:cNvPr id="11" name="component"/>
          <p:cNvSpPr/>
          <p:nvPr/>
        </p:nvSpPr>
        <p:spPr>
          <a:xfrm>
            <a:off x="5326380" y="1261872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2956" y="1261872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Blynk Cloud</a:t>
            </a:r>
            <a:endParaRPr lang="en-US" sz="1200" dirty="0"/>
          </a:p>
        </p:txBody>
      </p:sp>
      <p:sp>
        <p:nvSpPr>
          <p:cNvPr id="13" name="component"/>
          <p:cNvSpPr/>
          <p:nvPr/>
        </p:nvSpPr>
        <p:spPr>
          <a:xfrm>
            <a:off x="7006590" y="1261872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3166" y="1261872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Mobile /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1014984" y="1828800"/>
            <a:ext cx="256032" cy="182880"/>
          </a:xfrm>
          <a:prstGeom prst="up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layer"/>
          <p:cNvSpPr/>
          <p:nvPr/>
        </p:nvSpPr>
        <p:spPr>
          <a:xfrm>
            <a:off x="457200" y="2039112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layer label"/>
          <p:cNvSpPr/>
          <p:nvPr/>
        </p:nvSpPr>
        <p:spPr>
          <a:xfrm>
            <a:off x="457200" y="2039112"/>
            <a:ext cx="137160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0391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(ESP32)</a:t>
            </a:r>
            <a:endParaRPr lang="en-US" sz="1300" dirty="0"/>
          </a:p>
        </p:txBody>
      </p:sp>
      <p:sp>
        <p:nvSpPr>
          <p:cNvPr id="19" name="component"/>
          <p:cNvSpPr/>
          <p:nvPr/>
        </p:nvSpPr>
        <p:spPr>
          <a:xfrm>
            <a:off x="196596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0253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Acquire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sensors</a:t>
            </a:r>
            <a:endParaRPr lang="en-US" sz="1100" dirty="0"/>
          </a:p>
        </p:txBody>
      </p:sp>
      <p:sp>
        <p:nvSpPr>
          <p:cNvPr id="21" name="component"/>
          <p:cNvSpPr/>
          <p:nvPr/>
        </p:nvSpPr>
        <p:spPr>
          <a:xfrm>
            <a:off x="308610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2267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Power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Energy</a:t>
            </a:r>
            <a:endParaRPr lang="en-US" sz="1100" dirty="0"/>
          </a:p>
        </p:txBody>
      </p:sp>
      <p:sp>
        <p:nvSpPr>
          <p:cNvPr id="23" name="component"/>
          <p:cNvSpPr/>
          <p:nvPr/>
        </p:nvSpPr>
        <p:spPr>
          <a:xfrm>
            <a:off x="420624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4281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Fault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5" name="component"/>
          <p:cNvSpPr/>
          <p:nvPr/>
        </p:nvSpPr>
        <p:spPr>
          <a:xfrm>
            <a:off x="532638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6295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Protection</a:t>
            </a:r>
            <a:endParaRPr lang="en-US" sz="1100" dirty="0"/>
          </a:p>
        </p:txBody>
      </p:sp>
      <p:sp>
        <p:nvSpPr>
          <p:cNvPr id="27" name="component"/>
          <p:cNvSpPr/>
          <p:nvPr/>
        </p:nvSpPr>
        <p:spPr>
          <a:xfrm>
            <a:off x="644652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8309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Health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Analytics</a:t>
            </a:r>
            <a:endParaRPr lang="en-US" sz="1100" dirty="0"/>
          </a:p>
        </p:txBody>
      </p:sp>
      <p:sp>
        <p:nvSpPr>
          <p:cNvPr id="29" name="component"/>
          <p:cNvSpPr/>
          <p:nvPr/>
        </p:nvSpPr>
        <p:spPr>
          <a:xfrm>
            <a:off x="7566660" y="2112264"/>
            <a:ext cx="102870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03236" y="2112264"/>
            <a:ext cx="9555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Flash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Logging</a:t>
            </a:r>
            <a:endParaRPr lang="en-US" sz="1100" dirty="0"/>
          </a:p>
        </p:txBody>
      </p:sp>
      <p:sp>
        <p:nvSpPr>
          <p:cNvPr id="31" name="arrow"/>
          <p:cNvSpPr/>
          <p:nvPr/>
        </p:nvSpPr>
        <p:spPr>
          <a:xfrm>
            <a:off x="1014984" y="2679192"/>
            <a:ext cx="256032" cy="182880"/>
          </a:xfrm>
          <a:prstGeom prst="up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layer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layer label"/>
          <p:cNvSpPr/>
          <p:nvPr/>
        </p:nvSpPr>
        <p:spPr>
          <a:xfrm>
            <a:off x="457200" y="2889504"/>
            <a:ext cx="137160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288950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Sensing</a:t>
            </a:r>
            <a:endParaRPr lang="en-US" sz="1300" dirty="0"/>
          </a:p>
        </p:txBody>
      </p:sp>
      <p:sp>
        <p:nvSpPr>
          <p:cNvPr id="35" name="component"/>
          <p:cNvSpPr/>
          <p:nvPr/>
        </p:nvSpPr>
        <p:spPr>
          <a:xfrm>
            <a:off x="1965960" y="2962656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002536" y="2962656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Voltage Sensor</a:t>
            </a:r>
            <a:endParaRPr lang="en-US" sz="1200" dirty="0"/>
          </a:p>
        </p:txBody>
      </p:sp>
      <p:sp>
        <p:nvSpPr>
          <p:cNvPr id="37" name="component"/>
          <p:cNvSpPr/>
          <p:nvPr/>
        </p:nvSpPr>
        <p:spPr>
          <a:xfrm>
            <a:off x="3646170" y="2962656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82746" y="2962656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ACS712 30A</a:t>
            </a:r>
            <a:endParaRPr lang="en-US" sz="1200" dirty="0"/>
          </a:p>
        </p:txBody>
      </p:sp>
      <p:sp>
        <p:nvSpPr>
          <p:cNvPr id="39" name="component"/>
          <p:cNvSpPr/>
          <p:nvPr/>
        </p:nvSpPr>
        <p:spPr>
          <a:xfrm>
            <a:off x="5326380" y="2962656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62956" y="2962656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DS18B20</a:t>
            </a:r>
            <a:endParaRPr lang="en-US" sz="1200" dirty="0"/>
          </a:p>
        </p:txBody>
      </p:sp>
      <p:sp>
        <p:nvSpPr>
          <p:cNvPr id="41" name="component"/>
          <p:cNvSpPr/>
          <p:nvPr/>
        </p:nvSpPr>
        <p:spPr>
          <a:xfrm>
            <a:off x="7006590" y="2962656"/>
            <a:ext cx="158877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043166" y="2962656"/>
            <a:ext cx="1515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MPU6050</a:t>
            </a:r>
            <a:endParaRPr lang="en-US" sz="1200" dirty="0"/>
          </a:p>
        </p:txBody>
      </p:sp>
      <p:sp>
        <p:nvSpPr>
          <p:cNvPr id="43" name="arrow"/>
          <p:cNvSpPr/>
          <p:nvPr/>
        </p:nvSpPr>
        <p:spPr>
          <a:xfrm>
            <a:off x="1014984" y="3529584"/>
            <a:ext cx="256032" cy="182880"/>
          </a:xfrm>
          <a:prstGeom prst="up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layer"/>
          <p:cNvSpPr/>
          <p:nvPr/>
        </p:nvSpPr>
        <p:spPr>
          <a:xfrm>
            <a:off x="457200" y="3739896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layer label"/>
          <p:cNvSpPr/>
          <p:nvPr/>
        </p:nvSpPr>
        <p:spPr>
          <a:xfrm>
            <a:off x="457200" y="3739896"/>
            <a:ext cx="1371600" cy="621792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57200" y="37398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Power &amp; Drive</a:t>
            </a:r>
            <a:endParaRPr lang="en-US" sz="1300" dirty="0"/>
          </a:p>
        </p:txBody>
      </p:sp>
      <p:sp>
        <p:nvSpPr>
          <p:cNvPr id="47" name="component"/>
          <p:cNvSpPr/>
          <p:nvPr/>
        </p:nvSpPr>
        <p:spPr>
          <a:xfrm>
            <a:off x="1965960" y="3813048"/>
            <a:ext cx="214884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02536" y="38130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24V SMPS</a:t>
            </a:r>
            <a:endParaRPr lang="en-US" sz="1200" dirty="0"/>
          </a:p>
        </p:txBody>
      </p:sp>
      <p:sp>
        <p:nvSpPr>
          <p:cNvPr id="49" name="component"/>
          <p:cNvSpPr/>
          <p:nvPr/>
        </p:nvSpPr>
        <p:spPr>
          <a:xfrm>
            <a:off x="4206240" y="3813048"/>
            <a:ext cx="214884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242816" y="38130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BLDC Driver</a:t>
            </a:r>
            <a:endParaRPr lang="en-US" sz="1200" dirty="0"/>
          </a:p>
        </p:txBody>
      </p:sp>
      <p:sp>
        <p:nvSpPr>
          <p:cNvPr id="51" name="component"/>
          <p:cNvSpPr/>
          <p:nvPr/>
        </p:nvSpPr>
        <p:spPr>
          <a:xfrm>
            <a:off x="6446520" y="3813048"/>
            <a:ext cx="214884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83096" y="3813048"/>
            <a:ext cx="2075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BLDC Motor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Sensor data flows up to the ESP32; the EN signal flows down to the driver.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Block Diagram</a:t>
            </a:r>
            <a:endParaRPr lang="en-US" sz="3000" dirty="0"/>
          </a:p>
        </p:txBody>
      </p:sp>
      <p:sp>
        <p:nvSpPr>
          <p:cNvPr id="4" name="wire"/>
          <p:cNvSpPr/>
          <p:nvPr/>
        </p:nvSpPr>
        <p:spPr>
          <a:xfrm>
            <a:off x="4023360" y="667512"/>
            <a:ext cx="320040" cy="0"/>
          </a:xfrm>
          <a:prstGeom prst="line">
            <a:avLst/>
          </a:prstGeom>
          <a:noFill/>
          <a:ln w="50800">
            <a:solidFill>
              <a:srgbClr val="0F3D4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407408" y="566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Power</a:t>
            </a:r>
            <a:endParaRPr lang="en-US" sz="1100" dirty="0"/>
          </a:p>
        </p:txBody>
      </p:sp>
      <p:sp>
        <p:nvSpPr>
          <p:cNvPr id="6" name="wire"/>
          <p:cNvSpPr/>
          <p:nvPr/>
        </p:nvSpPr>
        <p:spPr>
          <a:xfrm>
            <a:off x="5212080" y="667512"/>
            <a:ext cx="3200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596128" y="566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Sensing</a:t>
            </a:r>
            <a:endParaRPr lang="en-US" sz="1100" dirty="0"/>
          </a:p>
        </p:txBody>
      </p:sp>
      <p:sp>
        <p:nvSpPr>
          <p:cNvPr id="8" name="wire"/>
          <p:cNvSpPr/>
          <p:nvPr/>
        </p:nvSpPr>
        <p:spPr>
          <a:xfrm>
            <a:off x="6400800" y="667512"/>
            <a:ext cx="3200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84848" y="566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</a:t>
            </a:r>
            <a:endParaRPr lang="en-US" sz="1100" dirty="0"/>
          </a:p>
        </p:txBody>
      </p:sp>
      <p:sp>
        <p:nvSpPr>
          <p:cNvPr id="10" name="wire"/>
          <p:cNvSpPr/>
          <p:nvPr/>
        </p:nvSpPr>
        <p:spPr>
          <a:xfrm>
            <a:off x="7589520" y="667512"/>
            <a:ext cx="320040" cy="0"/>
          </a:xfrm>
          <a:prstGeom prst="line">
            <a:avLst/>
          </a:prstGeom>
          <a:noFill/>
          <a:ln w="25400">
            <a:solidFill>
              <a:srgbClr val="F5A5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73568" y="566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Control</a:t>
            </a:r>
            <a:endParaRPr lang="en-US" sz="1100" dirty="0"/>
          </a:p>
        </p:txBody>
      </p:sp>
      <p:sp>
        <p:nvSpPr>
          <p:cNvPr id="12" name="24V SMPS"/>
          <p:cNvSpPr/>
          <p:nvPr/>
        </p:nvSpPr>
        <p:spPr>
          <a:xfrm>
            <a:off x="457200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1389888"/>
            <a:ext cx="1682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24V SMPS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16962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DC supply</a:t>
            </a:r>
            <a:endParaRPr lang="en-US" sz="1100" dirty="0"/>
          </a:p>
        </p:txBody>
      </p:sp>
      <p:sp>
        <p:nvSpPr>
          <p:cNvPr id="15" name="BLDC Driver"/>
          <p:cNvSpPr/>
          <p:nvPr/>
        </p:nvSpPr>
        <p:spPr>
          <a:xfrm>
            <a:off x="3291840" y="1325880"/>
            <a:ext cx="18288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64992" y="1389888"/>
            <a:ext cx="1682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BLDC Driver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364992" y="16962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Motor drive</a:t>
            </a:r>
            <a:endParaRPr lang="en-US" sz="1100" dirty="0"/>
          </a:p>
        </p:txBody>
      </p:sp>
      <p:sp>
        <p:nvSpPr>
          <p:cNvPr id="18" name="BLDC Motor"/>
          <p:cNvSpPr/>
          <p:nvPr/>
        </p:nvSpPr>
        <p:spPr>
          <a:xfrm>
            <a:off x="6309360" y="132588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82512" y="138988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BLDC Motor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82512" y="16962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Machine under test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2359152" y="1527048"/>
            <a:ext cx="86868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arrow"/>
          <p:cNvSpPr/>
          <p:nvPr/>
        </p:nvSpPr>
        <p:spPr>
          <a:xfrm>
            <a:off x="5193792" y="1527048"/>
            <a:ext cx="1051560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wire"/>
          <p:cNvSpPr/>
          <p:nvPr/>
        </p:nvSpPr>
        <p:spPr>
          <a:xfrm>
            <a:off x="1143000" y="2011680"/>
            <a:ext cx="0" cy="50292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24" name="wire"/>
          <p:cNvSpPr/>
          <p:nvPr/>
        </p:nvSpPr>
        <p:spPr>
          <a:xfrm>
            <a:off x="2788920" y="1664208"/>
            <a:ext cx="0" cy="850392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25" name="junction"/>
          <p:cNvSpPr/>
          <p:nvPr/>
        </p:nvSpPr>
        <p:spPr>
          <a:xfrm>
            <a:off x="2734056" y="1609344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wire"/>
          <p:cNvSpPr/>
          <p:nvPr/>
        </p:nvSpPr>
        <p:spPr>
          <a:xfrm>
            <a:off x="6537960" y="2011680"/>
            <a:ext cx="0" cy="50292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27" name="wire"/>
          <p:cNvSpPr/>
          <p:nvPr/>
        </p:nvSpPr>
        <p:spPr>
          <a:xfrm>
            <a:off x="8001000" y="2011680"/>
            <a:ext cx="0" cy="50292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28" name="Voltage Sensor"/>
          <p:cNvSpPr/>
          <p:nvPr/>
        </p:nvSpPr>
        <p:spPr>
          <a:xfrm>
            <a:off x="457200" y="25146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035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Voltage Sensor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" y="28620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across supply</a:t>
            </a:r>
            <a:endParaRPr lang="en-US" sz="1100" dirty="0"/>
          </a:p>
        </p:txBody>
      </p:sp>
      <p:sp>
        <p:nvSpPr>
          <p:cNvPr id="31" name="ACS712"/>
          <p:cNvSpPr/>
          <p:nvPr/>
        </p:nvSpPr>
        <p:spPr>
          <a:xfrm>
            <a:off x="2103120" y="25146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17627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ACS712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176272" y="28620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 series (current)</a:t>
            </a:r>
            <a:endParaRPr lang="en-US" sz="1100" dirty="0"/>
          </a:p>
        </p:txBody>
      </p:sp>
      <p:sp>
        <p:nvSpPr>
          <p:cNvPr id="34" name="DS18B20"/>
          <p:cNvSpPr/>
          <p:nvPr/>
        </p:nvSpPr>
        <p:spPr>
          <a:xfrm>
            <a:off x="5852160" y="25146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2531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DS18B20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925312" y="28620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 motor body</a:t>
            </a:r>
            <a:endParaRPr lang="en-US" sz="1100" dirty="0"/>
          </a:p>
        </p:txBody>
      </p:sp>
      <p:sp>
        <p:nvSpPr>
          <p:cNvPr id="37" name="MPU6050"/>
          <p:cNvSpPr/>
          <p:nvPr/>
        </p:nvSpPr>
        <p:spPr>
          <a:xfrm>
            <a:off x="7315200" y="251460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8835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MPU6050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388352" y="286207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 motor frame</a:t>
            </a:r>
            <a:endParaRPr lang="en-US" sz="1100" dirty="0"/>
          </a:p>
        </p:txBody>
      </p:sp>
      <p:sp>
        <p:nvSpPr>
          <p:cNvPr id="40" name="wire"/>
          <p:cNvSpPr/>
          <p:nvPr/>
        </p:nvSpPr>
        <p:spPr>
          <a:xfrm>
            <a:off x="1143000" y="3154680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1" name="wire"/>
          <p:cNvSpPr/>
          <p:nvPr/>
        </p:nvSpPr>
        <p:spPr>
          <a:xfrm>
            <a:off x="2788920" y="3154680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2" name="wire"/>
          <p:cNvSpPr/>
          <p:nvPr/>
        </p:nvSpPr>
        <p:spPr>
          <a:xfrm>
            <a:off x="6537960" y="3154680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3" name="wire"/>
          <p:cNvSpPr/>
          <p:nvPr/>
        </p:nvSpPr>
        <p:spPr>
          <a:xfrm>
            <a:off x="8001000" y="3154680"/>
            <a:ext cx="0" cy="2743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4" name="wire"/>
          <p:cNvSpPr/>
          <p:nvPr/>
        </p:nvSpPr>
        <p:spPr>
          <a:xfrm>
            <a:off x="1143000" y="3429000"/>
            <a:ext cx="68580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5" name="wire"/>
          <p:cNvSpPr/>
          <p:nvPr/>
        </p:nvSpPr>
        <p:spPr>
          <a:xfrm>
            <a:off x="4297680" y="3429000"/>
            <a:ext cx="0" cy="2286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6" name="OLED Display"/>
          <p:cNvSpPr/>
          <p:nvPr/>
        </p:nvSpPr>
        <p:spPr>
          <a:xfrm>
            <a:off x="457200" y="3703320"/>
            <a:ext cx="21031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30352" y="376732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OLED Display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30352" y="4142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SSD1327 · SPI</a:t>
            </a:r>
            <a:endParaRPr lang="en-US" sz="1100" dirty="0"/>
          </a:p>
        </p:txBody>
      </p:sp>
      <p:sp>
        <p:nvSpPr>
          <p:cNvPr id="49" name="ESP32"/>
          <p:cNvSpPr/>
          <p:nvPr/>
        </p:nvSpPr>
        <p:spPr>
          <a:xfrm>
            <a:off x="3108960" y="3703320"/>
            <a:ext cx="237744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182112" y="37673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ESP32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3182112" y="41422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Sense · Analyse · Protect</a:t>
            </a:r>
            <a:endParaRPr lang="en-US" sz="1100" dirty="0"/>
          </a:p>
        </p:txBody>
      </p:sp>
      <p:sp>
        <p:nvSpPr>
          <p:cNvPr id="52" name="Wi-Fi → Blynk"/>
          <p:cNvSpPr/>
          <p:nvPr/>
        </p:nvSpPr>
        <p:spPr>
          <a:xfrm>
            <a:off x="6126480" y="3703320"/>
            <a:ext cx="25603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199632" y="3767328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Wi-Fi → Blynk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6199632" y="4142232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Web / mobile dashboard</a:t>
            </a:r>
            <a:endParaRPr lang="en-US" sz="1100" dirty="0"/>
          </a:p>
        </p:txBody>
      </p:sp>
      <p:sp>
        <p:nvSpPr>
          <p:cNvPr id="55" name="arrow"/>
          <p:cNvSpPr/>
          <p:nvPr/>
        </p:nvSpPr>
        <p:spPr>
          <a:xfrm>
            <a:off x="2606040" y="3977640"/>
            <a:ext cx="457200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arrow"/>
          <p:cNvSpPr/>
          <p:nvPr/>
        </p:nvSpPr>
        <p:spPr>
          <a:xfrm>
            <a:off x="5532120" y="3977640"/>
            <a:ext cx="54864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wire"/>
          <p:cNvSpPr/>
          <p:nvPr/>
        </p:nvSpPr>
        <p:spPr>
          <a:xfrm flipV="1">
            <a:off x="4754880" y="2057400"/>
            <a:ext cx="0" cy="1645920"/>
          </a:xfrm>
          <a:prstGeom prst="line">
            <a:avLst/>
          </a:prstGeom>
          <a:noFill/>
          <a:ln w="31750">
            <a:solidFill>
              <a:srgbClr val="F5A524"/>
            </a:solidFill>
            <a:prstDash val="solid"/>
            <a:tailEnd type="triangle"/>
          </a:ln>
        </p:spPr>
      </p:sp>
      <p:sp>
        <p:nvSpPr>
          <p:cNvPr id="58" name="Text 55"/>
          <p:cNvSpPr txBox="1"/>
          <p:nvPr/>
        </p:nvSpPr>
        <p:spPr>
          <a:xfrm>
            <a:off x="4846320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Hardware &amp; Software Components</a:t>
            </a:r>
            <a:endParaRPr lang="en-US" sz="3000" dirty="0"/>
          </a:p>
        </p:txBody>
      </p:sp>
      <p:sp>
        <p:nvSpPr>
          <p:cNvPr id="4" name="hardware card"/>
          <p:cNvSpPr/>
          <p:nvPr/>
        </p:nvSpPr>
        <p:spPr>
          <a:xfrm>
            <a:off x="457200" y="123444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SP32 badge"/>
          <p:cNvSpPr/>
          <p:nvPr/>
        </p:nvSpPr>
        <p:spPr>
          <a:xfrm>
            <a:off x="594360" y="1435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ESP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563624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53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ESP32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Controller + Wi-Fi</a:t>
            </a:r>
            <a:endParaRPr lang="en-US" sz="1200" dirty="0"/>
          </a:p>
        </p:txBody>
      </p:sp>
      <p:sp>
        <p:nvSpPr>
          <p:cNvPr id="9" name="hardware card"/>
          <p:cNvSpPr/>
          <p:nvPr/>
        </p:nvSpPr>
        <p:spPr>
          <a:xfrm>
            <a:off x="3246120" y="123444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LDC Motor badge"/>
          <p:cNvSpPr/>
          <p:nvPr/>
        </p:nvSpPr>
        <p:spPr>
          <a:xfrm>
            <a:off x="3383280" y="1435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BLDC Mo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5636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53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BLDC Motor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0233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Machine under test</a:t>
            </a:r>
            <a:endParaRPr lang="en-US" sz="1200" dirty="0"/>
          </a:p>
        </p:txBody>
      </p:sp>
      <p:sp>
        <p:nvSpPr>
          <p:cNvPr id="14" name="hardware card"/>
          <p:cNvSpPr/>
          <p:nvPr/>
        </p:nvSpPr>
        <p:spPr>
          <a:xfrm>
            <a:off x="6035040" y="123444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LDC Driver badge"/>
          <p:cNvSpPr/>
          <p:nvPr/>
        </p:nvSpPr>
        <p:spPr>
          <a:xfrm>
            <a:off x="6172200" y="1435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BLDC Dri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6362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53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BLDC Driver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81228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Enable (EN) input</a:t>
            </a:r>
            <a:endParaRPr lang="en-US" sz="1200" dirty="0"/>
          </a:p>
        </p:txBody>
      </p:sp>
      <p:sp>
        <p:nvSpPr>
          <p:cNvPr id="19" name="hardware card"/>
          <p:cNvSpPr/>
          <p:nvPr/>
        </p:nvSpPr>
        <p:spPr>
          <a:xfrm>
            <a:off x="457200" y="224028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ACS712 30A badge"/>
          <p:cNvSpPr/>
          <p:nvPr/>
        </p:nvSpPr>
        <p:spPr>
          <a:xfrm>
            <a:off x="594360" y="2441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ACS712 30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56946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ACS712 30A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3444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 sensing</a:t>
            </a:r>
            <a:endParaRPr lang="en-US" sz="1200" dirty="0"/>
          </a:p>
        </p:txBody>
      </p:sp>
      <p:sp>
        <p:nvSpPr>
          <p:cNvPr id="24" name="hardware card"/>
          <p:cNvSpPr/>
          <p:nvPr/>
        </p:nvSpPr>
        <p:spPr>
          <a:xfrm>
            <a:off x="3246120" y="224028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Voltage Sensor badge"/>
          <p:cNvSpPr/>
          <p:nvPr/>
        </p:nvSpPr>
        <p:spPr>
          <a:xfrm>
            <a:off x="3383280" y="2441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Voltage Sens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256946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23360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Voltage Sensor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02336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Divider module, ×7.3</a:t>
            </a:r>
            <a:endParaRPr lang="en-US" sz="1200" dirty="0"/>
          </a:p>
        </p:txBody>
      </p:sp>
      <p:sp>
        <p:nvSpPr>
          <p:cNvPr id="29" name="hardware card"/>
          <p:cNvSpPr/>
          <p:nvPr/>
        </p:nvSpPr>
        <p:spPr>
          <a:xfrm>
            <a:off x="6035040" y="224028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DS18B20 badge"/>
          <p:cNvSpPr/>
          <p:nvPr/>
        </p:nvSpPr>
        <p:spPr>
          <a:xfrm>
            <a:off x="6172200" y="2441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5" descr="DS18B20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2569464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12280" y="2359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DS18B20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81228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Temperature, 1-Wire</a:t>
            </a:r>
            <a:endParaRPr lang="en-US" sz="1200" dirty="0"/>
          </a:p>
        </p:txBody>
      </p:sp>
      <p:sp>
        <p:nvSpPr>
          <p:cNvPr id="34" name="hardware card"/>
          <p:cNvSpPr/>
          <p:nvPr/>
        </p:nvSpPr>
        <p:spPr>
          <a:xfrm>
            <a:off x="457200" y="324612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MPU6050 badge"/>
          <p:cNvSpPr/>
          <p:nvPr/>
        </p:nvSpPr>
        <p:spPr>
          <a:xfrm>
            <a:off x="594360" y="3447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MPU6050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575304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3444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MPU6050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123444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Accel + gyro, I2C</a:t>
            </a:r>
            <a:endParaRPr lang="en-US" sz="1200" dirty="0"/>
          </a:p>
        </p:txBody>
      </p:sp>
      <p:sp>
        <p:nvSpPr>
          <p:cNvPr id="39" name="hardware card"/>
          <p:cNvSpPr/>
          <p:nvPr/>
        </p:nvSpPr>
        <p:spPr>
          <a:xfrm>
            <a:off x="3246120" y="324612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SSD1327 OLED badge"/>
          <p:cNvSpPr/>
          <p:nvPr/>
        </p:nvSpPr>
        <p:spPr>
          <a:xfrm>
            <a:off x="3383280" y="3447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mage 7" descr="SSD1327 OLE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3575304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02336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SSD1327 OLED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402336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128×128 SPI display</a:t>
            </a:r>
            <a:endParaRPr lang="en-US" sz="1200" dirty="0"/>
          </a:p>
        </p:txBody>
      </p:sp>
      <p:sp>
        <p:nvSpPr>
          <p:cNvPr id="44" name="hardware card"/>
          <p:cNvSpPr/>
          <p:nvPr/>
        </p:nvSpPr>
        <p:spPr>
          <a:xfrm>
            <a:off x="6035040" y="324612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24V SMPS badge"/>
          <p:cNvSpPr/>
          <p:nvPr/>
        </p:nvSpPr>
        <p:spPr>
          <a:xfrm>
            <a:off x="6172200" y="34472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6" name="Image 8" descr="24V SMP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3575304"/>
            <a:ext cx="256032" cy="256032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81228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24V SMPS</a:t>
            </a:r>
            <a:endParaRPr lang="en-US" sz="1500" dirty="0"/>
          </a:p>
        </p:txBody>
      </p:sp>
      <p:sp>
        <p:nvSpPr>
          <p:cNvPr id="48" name="Text 36"/>
          <p:cNvSpPr txBox="1"/>
          <p:nvPr/>
        </p:nvSpPr>
        <p:spPr>
          <a:xfrm>
            <a:off x="681228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DC power supply</a:t>
            </a:r>
            <a:endParaRPr lang="en-US" sz="1200" dirty="0"/>
          </a:p>
        </p:txBody>
      </p:sp>
      <p:sp>
        <p:nvSpPr>
          <p:cNvPr id="49" name="software strip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Software: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Arduino IDE · ESP32 core · Blynk · U8g2 · Adafruit MPU6050 · DallasTemperature + OneWire · Preferences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Circuit Diagram: Power &amp; Sensing</a:t>
            </a:r>
            <a:endParaRPr lang="en-US" sz="3000" dirty="0"/>
          </a:p>
        </p:txBody>
      </p:sp>
      <p:sp>
        <p:nvSpPr>
          <p:cNvPr id="4" name="SMPS"/>
          <p:cNvSpPr/>
          <p:nvPr/>
        </p:nvSpPr>
        <p:spPr>
          <a:xfrm>
            <a:off x="457200" y="1600200"/>
            <a:ext cx="1371600" cy="17373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9568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+24V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29169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GND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24V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SMPS</a:t>
            </a:r>
            <a:endParaRPr lang="en-US" sz="1400" dirty="0"/>
          </a:p>
        </p:txBody>
      </p:sp>
      <p:sp>
        <p:nvSpPr>
          <p:cNvPr id="8" name="wire"/>
          <p:cNvSpPr/>
          <p:nvPr/>
        </p:nvSpPr>
        <p:spPr>
          <a:xfrm>
            <a:off x="1828800" y="2057400"/>
            <a:ext cx="914400" cy="0"/>
          </a:xfrm>
          <a:prstGeom prst="line">
            <a:avLst/>
          </a:prstGeom>
          <a:noFill/>
          <a:ln w="31750">
            <a:solidFill>
              <a:srgbClr val="C93C3C"/>
            </a:solidFill>
            <a:prstDash val="solid"/>
          </a:ln>
        </p:spPr>
      </p:sp>
      <p:sp>
        <p:nvSpPr>
          <p:cNvPr id="9" name="wire"/>
          <p:cNvSpPr/>
          <p:nvPr/>
        </p:nvSpPr>
        <p:spPr>
          <a:xfrm>
            <a:off x="4114800" y="2057400"/>
            <a:ext cx="822960" cy="0"/>
          </a:xfrm>
          <a:prstGeom prst="line">
            <a:avLst/>
          </a:prstGeom>
          <a:noFill/>
          <a:ln w="31750">
            <a:solidFill>
              <a:srgbClr val="C93C3C"/>
            </a:solidFill>
            <a:prstDash val="solid"/>
          </a:ln>
        </p:spPr>
      </p:sp>
      <p:sp>
        <p:nvSpPr>
          <p:cNvPr id="10" name="wire"/>
          <p:cNvSpPr/>
          <p:nvPr/>
        </p:nvSpPr>
        <p:spPr>
          <a:xfrm>
            <a:off x="1828800" y="3017520"/>
            <a:ext cx="3108960" cy="0"/>
          </a:xfrm>
          <a:prstGeom prst="line">
            <a:avLst/>
          </a:prstGeom>
          <a:noFill/>
          <a:ln w="31750">
            <a:solidFill>
              <a:srgbClr val="0B1F2E"/>
            </a:solidFill>
            <a:prstDash val="solid"/>
          </a:ln>
        </p:spPr>
      </p:sp>
      <p:sp>
        <p:nvSpPr>
          <p:cNvPr id="11" name="ACS712"/>
          <p:cNvSpPr/>
          <p:nvPr/>
        </p:nvSpPr>
        <p:spPr>
          <a:xfrm>
            <a:off x="2743200" y="1600200"/>
            <a:ext cx="1371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ACS712 30A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07208" y="1956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IP+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IP−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5V supply</a:t>
            </a:r>
            <a:endParaRPr lang="en-US" sz="1100" dirty="0"/>
          </a:p>
        </p:txBody>
      </p:sp>
      <p:sp>
        <p:nvSpPr>
          <p:cNvPr id="16" name="wire"/>
          <p:cNvSpPr/>
          <p:nvPr/>
        </p:nvSpPr>
        <p:spPr>
          <a:xfrm flipV="1">
            <a:off x="3429000" y="1371600"/>
            <a:ext cx="0" cy="22860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2377440" y="1161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 → GPIO34 (ADC)</a:t>
            </a:r>
            <a:endParaRPr lang="en-US" sz="1200" dirty="0"/>
          </a:p>
        </p:txBody>
      </p:sp>
      <p:sp>
        <p:nvSpPr>
          <p:cNvPr id="18" name="Driver"/>
          <p:cNvSpPr/>
          <p:nvPr/>
        </p:nvSpPr>
        <p:spPr>
          <a:xfrm>
            <a:off x="4937760" y="1600200"/>
            <a:ext cx="1645920" cy="173736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5780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Driver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010912" y="1956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VIN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10912" y="29169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GND</a:t>
            </a:r>
            <a:endParaRPr lang="en-US" sz="1100" dirty="0"/>
          </a:p>
        </p:txBody>
      </p:sp>
      <p:sp>
        <p:nvSpPr>
          <p:cNvPr id="22" name="Motor"/>
          <p:cNvSpPr/>
          <p:nvPr/>
        </p:nvSpPr>
        <p:spPr>
          <a:xfrm>
            <a:off x="7406640" y="1600200"/>
            <a:ext cx="1280160" cy="17373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wire"/>
          <p:cNvSpPr/>
          <p:nvPr/>
        </p:nvSpPr>
        <p:spPr>
          <a:xfrm>
            <a:off x="5394960" y="1371600"/>
            <a:ext cx="0" cy="22860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24" name="wire"/>
          <p:cNvSpPr/>
          <p:nvPr/>
        </p:nvSpPr>
        <p:spPr>
          <a:xfrm>
            <a:off x="6126480" y="1371600"/>
            <a:ext cx="0" cy="22860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572000" y="1161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EN ← GPIO25 · PWM (fixed) ← GPIO26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18653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</a:t>
            </a:r>
            <a:endParaRPr lang="en-US" sz="1100" dirty="0"/>
          </a:p>
        </p:txBody>
      </p:sp>
      <p:sp>
        <p:nvSpPr>
          <p:cNvPr id="27" name="wire"/>
          <p:cNvSpPr/>
          <p:nvPr/>
        </p:nvSpPr>
        <p:spPr>
          <a:xfrm>
            <a:off x="6583680" y="1965960"/>
            <a:ext cx="82296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0" y="18653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23682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</a:t>
            </a:r>
            <a:endParaRPr lang="en-US" sz="1100" dirty="0"/>
          </a:p>
        </p:txBody>
      </p:sp>
      <p:sp>
        <p:nvSpPr>
          <p:cNvPr id="30" name="wire"/>
          <p:cNvSpPr/>
          <p:nvPr/>
        </p:nvSpPr>
        <p:spPr>
          <a:xfrm>
            <a:off x="6583680" y="2468880"/>
            <a:ext cx="822960" cy="0"/>
          </a:xfrm>
          <a:prstGeom prst="line">
            <a:avLst/>
          </a:prstGeom>
          <a:noFill/>
          <a:ln w="38100">
            <a:solidFill>
              <a:srgbClr val="2E9E6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0" y="23682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2871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</a:t>
            </a:r>
            <a:endParaRPr lang="en-US" sz="1100" dirty="0"/>
          </a:p>
        </p:txBody>
      </p:sp>
      <p:sp>
        <p:nvSpPr>
          <p:cNvPr id="33" name="wire"/>
          <p:cNvSpPr/>
          <p:nvPr/>
        </p:nvSpPr>
        <p:spPr>
          <a:xfrm>
            <a:off x="6583680" y="2971800"/>
            <a:ext cx="822960" cy="0"/>
          </a:xfrm>
          <a:prstGeom prst="line">
            <a:avLst/>
          </a:prstGeom>
          <a:noFill/>
          <a:ln w="38100">
            <a:solidFill>
              <a:srgbClr val="4C9B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98080" y="28712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22860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Motor</a:t>
            </a:r>
            <a:endParaRPr lang="en-US" sz="1400" dirty="0"/>
          </a:p>
        </p:txBody>
      </p:sp>
      <p:sp>
        <p:nvSpPr>
          <p:cNvPr id="36" name="wire"/>
          <p:cNvSpPr/>
          <p:nvPr/>
        </p:nvSpPr>
        <p:spPr>
          <a:xfrm>
            <a:off x="2286000" y="2057400"/>
            <a:ext cx="0" cy="1783080"/>
          </a:xfrm>
          <a:prstGeom prst="line">
            <a:avLst/>
          </a:prstGeom>
          <a:noFill/>
          <a:ln w="31750">
            <a:solidFill>
              <a:srgbClr val="C93C3C"/>
            </a:solidFill>
            <a:prstDash val="solid"/>
          </a:ln>
        </p:spPr>
      </p:sp>
      <p:sp>
        <p:nvSpPr>
          <p:cNvPr id="37" name="wire"/>
          <p:cNvSpPr/>
          <p:nvPr/>
        </p:nvSpPr>
        <p:spPr>
          <a:xfrm>
            <a:off x="3108960" y="3017520"/>
            <a:ext cx="0" cy="822960"/>
          </a:xfrm>
          <a:prstGeom prst="line">
            <a:avLst/>
          </a:prstGeom>
          <a:noFill/>
          <a:ln w="31750">
            <a:solidFill>
              <a:srgbClr val="0B1F2E"/>
            </a:solidFill>
            <a:prstDash val="solid"/>
          </a:ln>
        </p:spPr>
      </p:sp>
      <p:sp>
        <p:nvSpPr>
          <p:cNvPr id="38" name="junction"/>
          <p:cNvSpPr/>
          <p:nvPr/>
        </p:nvSpPr>
        <p:spPr>
          <a:xfrm>
            <a:off x="2231136" y="2002536"/>
            <a:ext cx="109728" cy="109728"/>
          </a:xfrm>
          <a:prstGeom prst="ellipse">
            <a:avLst/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39" name="junction"/>
          <p:cNvSpPr/>
          <p:nvPr/>
        </p:nvSpPr>
        <p:spPr>
          <a:xfrm>
            <a:off x="3054096" y="2962656"/>
            <a:ext cx="109728" cy="109728"/>
          </a:xfrm>
          <a:prstGeom prst="ellipse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40" name="Voltage sensor"/>
          <p:cNvSpPr/>
          <p:nvPr/>
        </p:nvSpPr>
        <p:spPr>
          <a:xfrm>
            <a:off x="2011680" y="384048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011680" y="39044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Voltage Sensor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2011680" y="4187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VIN+ / VIN− across supply</a:t>
            </a:r>
            <a:endParaRPr lang="en-US" sz="1100" dirty="0"/>
          </a:p>
        </p:txBody>
      </p:sp>
      <p:sp>
        <p:nvSpPr>
          <p:cNvPr id="43" name="wire"/>
          <p:cNvSpPr/>
          <p:nvPr/>
        </p:nvSpPr>
        <p:spPr>
          <a:xfrm>
            <a:off x="4023360" y="4206240"/>
            <a:ext cx="5486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44" name="Text 41"/>
          <p:cNvSpPr txBox="1"/>
          <p:nvPr/>
        </p:nvSpPr>
        <p:spPr>
          <a:xfrm>
            <a:off x="4645152" y="4105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 → GPIO35 (ADC)</a:t>
            </a:r>
            <a:endParaRPr lang="en-US" sz="1200" dirty="0"/>
          </a:p>
        </p:txBody>
      </p:sp>
      <p:sp>
        <p:nvSpPr>
          <p:cNvPr id="45" name="wire"/>
          <p:cNvSpPr/>
          <p:nvPr/>
        </p:nvSpPr>
        <p:spPr>
          <a:xfrm>
            <a:off x="457200" y="3904488"/>
            <a:ext cx="320040" cy="0"/>
          </a:xfrm>
          <a:prstGeom prst="line">
            <a:avLst/>
          </a:prstGeom>
          <a:noFill/>
          <a:ln w="31750">
            <a:solidFill>
              <a:srgbClr val="C93C3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8680" y="38039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+24V</a:t>
            </a:r>
            <a:endParaRPr lang="en-US" sz="1100" dirty="0"/>
          </a:p>
        </p:txBody>
      </p:sp>
      <p:sp>
        <p:nvSpPr>
          <p:cNvPr id="47" name="wire"/>
          <p:cNvSpPr/>
          <p:nvPr/>
        </p:nvSpPr>
        <p:spPr>
          <a:xfrm>
            <a:off x="457200" y="4123944"/>
            <a:ext cx="320040" cy="0"/>
          </a:xfrm>
          <a:prstGeom prst="line">
            <a:avLst/>
          </a:prstGeom>
          <a:noFill/>
          <a:ln w="31750">
            <a:solidFill>
              <a:srgbClr val="0B1F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68680" y="4023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GND</a:t>
            </a:r>
            <a:endParaRPr lang="en-US" sz="1100" dirty="0"/>
          </a:p>
        </p:txBody>
      </p:sp>
      <p:sp>
        <p:nvSpPr>
          <p:cNvPr id="49" name="wire"/>
          <p:cNvSpPr/>
          <p:nvPr/>
        </p:nvSpPr>
        <p:spPr>
          <a:xfrm>
            <a:off x="457200" y="4343400"/>
            <a:ext cx="320040" cy="0"/>
          </a:xfrm>
          <a:prstGeom prst="line">
            <a:avLst/>
          </a:prstGeom>
          <a:noFill/>
          <a:ln w="31750">
            <a:solidFill>
              <a:srgbClr val="F5A52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8680" y="4242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Motor phases</a:t>
            </a:r>
            <a:endParaRPr lang="en-US" sz="1100" dirty="0"/>
          </a:p>
        </p:txBody>
      </p:sp>
      <p:sp>
        <p:nvSpPr>
          <p:cNvPr id="51" name="wire"/>
          <p:cNvSpPr/>
          <p:nvPr/>
        </p:nvSpPr>
        <p:spPr>
          <a:xfrm>
            <a:off x="457200" y="4562856"/>
            <a:ext cx="3200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dash"/>
          </a:ln>
        </p:spPr>
      </p:sp>
      <p:sp>
        <p:nvSpPr>
          <p:cNvPr id="52" name="Text 49"/>
          <p:cNvSpPr txBox="1"/>
          <p:nvPr/>
        </p:nvSpPr>
        <p:spPr>
          <a:xfrm>
            <a:off x="86868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Signal</a:t>
            </a:r>
            <a:endParaRPr lang="en-US" sz="1100" dirty="0"/>
          </a:p>
        </p:txBody>
      </p:sp>
      <p:sp>
        <p:nvSpPr>
          <p:cNvPr id="53" name="note"/>
          <p:cNvSpPr/>
          <p:nvPr/>
        </p:nvSpPr>
        <p:spPr>
          <a:xfrm>
            <a:off x="6400800" y="3749040"/>
            <a:ext cx="22860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53796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Tie ESP32 GND to SMPS GND (common ground).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Circuit Diagram: Sensor Connections</a:t>
            </a:r>
            <a:endParaRPr lang="en-US" sz="3000" dirty="0"/>
          </a:p>
        </p:txBody>
      </p:sp>
      <p:sp>
        <p:nvSpPr>
          <p:cNvPr id="4" name="ESP32"/>
          <p:cNvSpPr/>
          <p:nvPr/>
        </p:nvSpPr>
        <p:spPr>
          <a:xfrm>
            <a:off x="3383280" y="1234440"/>
            <a:ext cx="2377440" cy="333756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38328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ESP32 DevKit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493008" y="1636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GPIO34 (ADC)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493008" y="2596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GPIO35 (ADC)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682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GPIO4 (1-Wire)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596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GPIO21 (SDA)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916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GPIO22 (SCL)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VIN 5V → ACS712 VCC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3V3 → DS18B20 / MPU6050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GND → all grounds</a:t>
            </a:r>
            <a:endParaRPr lang="en-US" sz="1100" dirty="0"/>
          </a:p>
        </p:txBody>
      </p:sp>
      <p:sp>
        <p:nvSpPr>
          <p:cNvPr id="12" name="ACS712 30A"/>
          <p:cNvSpPr/>
          <p:nvPr/>
        </p:nvSpPr>
        <p:spPr>
          <a:xfrm>
            <a:off x="822960" y="1234440"/>
            <a:ext cx="1371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ACS712 30A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16367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</a:t>
            </a:r>
            <a:endParaRPr lang="en-US" sz="1100" dirty="0"/>
          </a:p>
        </p:txBody>
      </p:sp>
      <p:sp>
        <p:nvSpPr>
          <p:cNvPr id="15" name="wire"/>
          <p:cNvSpPr/>
          <p:nvPr/>
        </p:nvSpPr>
        <p:spPr>
          <a:xfrm flipH="1">
            <a:off x="658368" y="1508760"/>
            <a:ext cx="164592" cy="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6888" y="14081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5V</a:t>
            </a:r>
            <a:endParaRPr lang="en-US" sz="1000" dirty="0"/>
          </a:p>
        </p:txBody>
      </p:sp>
      <p:sp>
        <p:nvSpPr>
          <p:cNvPr id="17" name="wire"/>
          <p:cNvSpPr/>
          <p:nvPr/>
        </p:nvSpPr>
        <p:spPr>
          <a:xfrm flipH="1">
            <a:off x="658368" y="1965960"/>
            <a:ext cx="164592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6888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19" name="Voltage Sensor"/>
          <p:cNvSpPr/>
          <p:nvPr/>
        </p:nvSpPr>
        <p:spPr>
          <a:xfrm>
            <a:off x="822960" y="2331720"/>
            <a:ext cx="1371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Voltage Sensor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25968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</a:t>
            </a:r>
            <a:endParaRPr lang="en-US" sz="1100" dirty="0"/>
          </a:p>
        </p:txBody>
      </p:sp>
      <p:sp>
        <p:nvSpPr>
          <p:cNvPr id="22" name="wire"/>
          <p:cNvSpPr/>
          <p:nvPr/>
        </p:nvSpPr>
        <p:spPr>
          <a:xfrm flipH="1">
            <a:off x="658368" y="2560320"/>
            <a:ext cx="164592" cy="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6888" y="24597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24V</a:t>
            </a:r>
            <a:endParaRPr lang="en-US" sz="1000" dirty="0"/>
          </a:p>
        </p:txBody>
      </p:sp>
      <p:sp>
        <p:nvSpPr>
          <p:cNvPr id="24" name="wire"/>
          <p:cNvSpPr/>
          <p:nvPr/>
        </p:nvSpPr>
        <p:spPr>
          <a:xfrm flipH="1">
            <a:off x="658368" y="3017520"/>
            <a:ext cx="164592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6888" y="29169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26" name="wire"/>
          <p:cNvSpPr/>
          <p:nvPr/>
        </p:nvSpPr>
        <p:spPr>
          <a:xfrm>
            <a:off x="2194560" y="1737360"/>
            <a:ext cx="11887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7" name="wire"/>
          <p:cNvSpPr/>
          <p:nvPr/>
        </p:nvSpPr>
        <p:spPr>
          <a:xfrm>
            <a:off x="2194560" y="2697480"/>
            <a:ext cx="11887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8" name="DS18B20"/>
          <p:cNvSpPr/>
          <p:nvPr/>
        </p:nvSpPr>
        <p:spPr>
          <a:xfrm>
            <a:off x="6675120" y="1234440"/>
            <a:ext cx="15544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1271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DS18B20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48272" y="1682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</a:t>
            </a:r>
            <a:endParaRPr lang="en-US" sz="1100" dirty="0"/>
          </a:p>
        </p:txBody>
      </p:sp>
      <p:sp>
        <p:nvSpPr>
          <p:cNvPr id="31" name="wire"/>
          <p:cNvSpPr/>
          <p:nvPr/>
        </p:nvSpPr>
        <p:spPr>
          <a:xfrm>
            <a:off x="8229600" y="1600200"/>
            <a:ext cx="137160" cy="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94192" y="14996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3V3</a:t>
            </a:r>
            <a:endParaRPr lang="en-US" sz="1000" dirty="0"/>
          </a:p>
        </p:txBody>
      </p:sp>
      <p:sp>
        <p:nvSpPr>
          <p:cNvPr id="33" name="wire"/>
          <p:cNvSpPr/>
          <p:nvPr/>
        </p:nvSpPr>
        <p:spPr>
          <a:xfrm>
            <a:off x="8229600" y="1965960"/>
            <a:ext cx="137160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94192" y="18653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680960" y="1499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VCC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80960" y="1865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GND</a:t>
            </a:r>
            <a:endParaRPr lang="en-US" sz="1100" dirty="0"/>
          </a:p>
        </p:txBody>
      </p:sp>
      <p:sp>
        <p:nvSpPr>
          <p:cNvPr id="37" name="MPU6050"/>
          <p:cNvSpPr/>
          <p:nvPr/>
        </p:nvSpPr>
        <p:spPr>
          <a:xfrm>
            <a:off x="6675120" y="23317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5120" y="2368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MPU6050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748272" y="2596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SDA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748272" y="29169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SCL</a:t>
            </a:r>
            <a:endParaRPr lang="en-US" sz="1100" dirty="0"/>
          </a:p>
        </p:txBody>
      </p:sp>
      <p:sp>
        <p:nvSpPr>
          <p:cNvPr id="41" name="wire"/>
          <p:cNvSpPr/>
          <p:nvPr/>
        </p:nvSpPr>
        <p:spPr>
          <a:xfrm>
            <a:off x="8229600" y="2743200"/>
            <a:ext cx="137160" cy="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94192" y="264261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3V3</a:t>
            </a:r>
            <a:endParaRPr lang="en-US" sz="1000" dirty="0"/>
          </a:p>
        </p:txBody>
      </p:sp>
      <p:sp>
        <p:nvSpPr>
          <p:cNvPr id="43" name="wire"/>
          <p:cNvSpPr/>
          <p:nvPr/>
        </p:nvSpPr>
        <p:spPr>
          <a:xfrm>
            <a:off x="8229600" y="3108960"/>
            <a:ext cx="137160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394192" y="30083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680960" y="26426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VCC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80960" y="3008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GND</a:t>
            </a:r>
            <a:endParaRPr lang="en-US" sz="1100" dirty="0"/>
          </a:p>
        </p:txBody>
      </p:sp>
      <p:sp>
        <p:nvSpPr>
          <p:cNvPr id="47" name="wire"/>
          <p:cNvSpPr/>
          <p:nvPr/>
        </p:nvSpPr>
        <p:spPr>
          <a:xfrm>
            <a:off x="5760720" y="178308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48" name="wire"/>
          <p:cNvSpPr/>
          <p:nvPr/>
        </p:nvSpPr>
        <p:spPr>
          <a:xfrm flipV="1">
            <a:off x="6400800" y="1426464"/>
            <a:ext cx="0" cy="356616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49" name="junction"/>
          <p:cNvSpPr/>
          <p:nvPr/>
        </p:nvSpPr>
        <p:spPr>
          <a:xfrm>
            <a:off x="6345936" y="1728216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0" name="pull-up resistor"/>
          <p:cNvSpPr/>
          <p:nvPr/>
        </p:nvSpPr>
        <p:spPr>
          <a:xfrm>
            <a:off x="6327648" y="1481328"/>
            <a:ext cx="146304" cy="228600"/>
          </a:xfrm>
          <a:prstGeom prst="rect">
            <a:avLst/>
          </a:prstGeom>
          <a:solidFill>
            <a:schemeClr val="bg1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852160" y="1490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4.7k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217920" y="12435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3V3</a:t>
            </a:r>
            <a:endParaRPr lang="en-US" sz="1000" dirty="0"/>
          </a:p>
        </p:txBody>
      </p:sp>
      <p:sp>
        <p:nvSpPr>
          <p:cNvPr id="53" name="wire"/>
          <p:cNvSpPr/>
          <p:nvPr/>
        </p:nvSpPr>
        <p:spPr>
          <a:xfrm>
            <a:off x="5760720" y="269748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54" name="wire"/>
          <p:cNvSpPr/>
          <p:nvPr/>
        </p:nvSpPr>
        <p:spPr>
          <a:xfrm>
            <a:off x="5760720" y="3017520"/>
            <a:ext cx="914400" cy="0"/>
          </a:xfrm>
          <a:prstGeom prst="line">
            <a:avLst/>
          </a:prstGeom>
          <a:noFill/>
          <a:ln w="31750">
            <a:solidFill>
              <a:srgbClr val="1F5F8B"/>
            </a:solidFill>
            <a:prstDash val="solid"/>
          </a:ln>
        </p:spPr>
      </p:sp>
      <p:sp>
        <p:nvSpPr>
          <p:cNvPr id="55" name="note"/>
          <p:cNvSpPr/>
          <p:nvPr/>
        </p:nvSpPr>
        <p:spPr>
          <a:xfrm>
            <a:off x="457200" y="3474720"/>
            <a:ext cx="27432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note badge"/>
          <p:cNvSpPr/>
          <p:nvPr/>
        </p:nvSpPr>
        <p:spPr>
          <a:xfrm>
            <a:off x="566928" y="37490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7" name="Image 0" descr="n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40480"/>
            <a:ext cx="182880" cy="18288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1051560" y="35204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ACS712-30A idles at 2.5 V and adds 66 mV per amp, so its output stays below 3.3 V up to about 12 A.</a:t>
            </a:r>
            <a:endParaRPr lang="en-US" sz="1200" dirty="0"/>
          </a:p>
        </p:txBody>
      </p:sp>
      <p:sp>
        <p:nvSpPr>
          <p:cNvPr id="59" name="note"/>
          <p:cNvSpPr/>
          <p:nvPr/>
        </p:nvSpPr>
        <p:spPr>
          <a:xfrm>
            <a:off x="6675120" y="3520440"/>
            <a:ext cx="20116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784848" y="3520440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MPU6050: ±8 g, ±500 °/s, 21 Hz filter. Voltage module is scaled so 24 V ≈ 3.3 V (×7.3).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Circuit Diagram: OLED &amp; Driver Control</a:t>
            </a:r>
            <a:endParaRPr lang="en-US" sz="3000" dirty="0"/>
          </a:p>
        </p:txBody>
      </p:sp>
      <p:sp>
        <p:nvSpPr>
          <p:cNvPr id="4" name="ESP32"/>
          <p:cNvSpPr/>
          <p:nvPr/>
        </p:nvSpPr>
        <p:spPr>
          <a:xfrm>
            <a:off x="3383280" y="1234440"/>
            <a:ext cx="2377440" cy="333756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38328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ESP32 DevKit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493008" y="1728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GPIO25 (EN)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493008" y="2093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GPIO26 (PWM)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636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GPIO5 (CS)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002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GPIO27 (DC)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3682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GPIO14 (RST)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734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GPIO18 (SCK)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GPIO23 (MOSI)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3931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3V3 → OLED VCC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GND → driver and OLED GND</a:t>
            </a:r>
            <a:endParaRPr lang="en-US" sz="1100" dirty="0"/>
          </a:p>
        </p:txBody>
      </p:sp>
      <p:sp>
        <p:nvSpPr>
          <p:cNvPr id="14" name="BLDC Driver"/>
          <p:cNvSpPr/>
          <p:nvPr/>
        </p:nvSpPr>
        <p:spPr>
          <a:xfrm>
            <a:off x="822960" y="1325880"/>
            <a:ext cx="137160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1362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BLDC Driver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1728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0939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PWM</a:t>
            </a:r>
            <a:endParaRPr lang="en-US" sz="1100" dirty="0"/>
          </a:p>
        </p:txBody>
      </p:sp>
      <p:sp>
        <p:nvSpPr>
          <p:cNvPr id="18" name="wire"/>
          <p:cNvSpPr/>
          <p:nvPr/>
        </p:nvSpPr>
        <p:spPr>
          <a:xfrm flipH="1">
            <a:off x="658368" y="2011680"/>
            <a:ext cx="164592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6888" y="1911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20" name="wire"/>
          <p:cNvSpPr/>
          <p:nvPr/>
        </p:nvSpPr>
        <p:spPr>
          <a:xfrm flipH="1">
            <a:off x="2194560" y="1828800"/>
            <a:ext cx="11887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wire"/>
          <p:cNvSpPr/>
          <p:nvPr/>
        </p:nvSpPr>
        <p:spPr>
          <a:xfrm flipH="1">
            <a:off x="2194560" y="2194560"/>
            <a:ext cx="118872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2" name="SSD1327 OLED"/>
          <p:cNvSpPr/>
          <p:nvPr/>
        </p:nvSpPr>
        <p:spPr>
          <a:xfrm>
            <a:off x="6675120" y="1234440"/>
            <a:ext cx="1554480" cy="219456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1271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SSD1327 OLED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748272" y="16367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CS</a:t>
            </a:r>
            <a:endParaRPr lang="en-US" sz="1100" dirty="0"/>
          </a:p>
        </p:txBody>
      </p:sp>
      <p:sp>
        <p:nvSpPr>
          <p:cNvPr id="25" name="wire"/>
          <p:cNvSpPr/>
          <p:nvPr/>
        </p:nvSpPr>
        <p:spPr>
          <a:xfrm>
            <a:off x="5760720" y="173736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48272" y="20025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DC</a:t>
            </a:r>
            <a:endParaRPr lang="en-US" sz="1100" dirty="0"/>
          </a:p>
        </p:txBody>
      </p:sp>
      <p:sp>
        <p:nvSpPr>
          <p:cNvPr id="27" name="wire"/>
          <p:cNvSpPr/>
          <p:nvPr/>
        </p:nvSpPr>
        <p:spPr>
          <a:xfrm>
            <a:off x="5760720" y="210312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48272" y="23682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RST</a:t>
            </a:r>
            <a:endParaRPr lang="en-US" sz="1100" dirty="0"/>
          </a:p>
        </p:txBody>
      </p:sp>
      <p:sp>
        <p:nvSpPr>
          <p:cNvPr id="29" name="wire"/>
          <p:cNvSpPr/>
          <p:nvPr/>
        </p:nvSpPr>
        <p:spPr>
          <a:xfrm>
            <a:off x="5760720" y="246888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48272" y="2734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SCK</a:t>
            </a:r>
            <a:endParaRPr lang="en-US" sz="1100" dirty="0"/>
          </a:p>
        </p:txBody>
      </p:sp>
      <p:sp>
        <p:nvSpPr>
          <p:cNvPr id="31" name="wire"/>
          <p:cNvSpPr/>
          <p:nvPr/>
        </p:nvSpPr>
        <p:spPr>
          <a:xfrm>
            <a:off x="5760720" y="283464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48272" y="3099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MOSI</a:t>
            </a:r>
            <a:endParaRPr lang="en-US" sz="1100" dirty="0"/>
          </a:p>
        </p:txBody>
      </p:sp>
      <p:sp>
        <p:nvSpPr>
          <p:cNvPr id="33" name="wire"/>
          <p:cNvSpPr/>
          <p:nvPr/>
        </p:nvSpPr>
        <p:spPr>
          <a:xfrm>
            <a:off x="5760720" y="3200400"/>
            <a:ext cx="91440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34" name="wire"/>
          <p:cNvSpPr/>
          <p:nvPr/>
        </p:nvSpPr>
        <p:spPr>
          <a:xfrm>
            <a:off x="8229600" y="1920240"/>
            <a:ext cx="137160" cy="0"/>
          </a:xfrm>
          <a:prstGeom prst="line">
            <a:avLst/>
          </a:prstGeom>
          <a:noFill/>
          <a:ln w="25400">
            <a:solidFill>
              <a:srgbClr val="C93C3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94192" y="181965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3C3C"/>
                </a:solidFill>
              </a:rPr>
              <a:t>3V3</a:t>
            </a:r>
            <a:endParaRPr lang="en-US" sz="1000" dirty="0"/>
          </a:p>
        </p:txBody>
      </p:sp>
      <p:sp>
        <p:nvSpPr>
          <p:cNvPr id="36" name="wire"/>
          <p:cNvSpPr/>
          <p:nvPr/>
        </p:nvSpPr>
        <p:spPr>
          <a:xfrm>
            <a:off x="8229600" y="2468880"/>
            <a:ext cx="137160" cy="0"/>
          </a:xfrm>
          <a:prstGeom prst="line">
            <a:avLst/>
          </a:prstGeom>
          <a:noFill/>
          <a:ln w="25400">
            <a:solidFill>
              <a:srgbClr val="0B1F2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94192" y="23682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2E"/>
                </a:solidFill>
              </a:rPr>
              <a:t>GND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680960" y="1819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VCC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680960" y="23682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GND</a:t>
            </a:r>
            <a:endParaRPr lang="en-US" sz="1100" dirty="0"/>
          </a:p>
        </p:txBody>
      </p:sp>
      <p:sp>
        <p:nvSpPr>
          <p:cNvPr id="40" name="note"/>
          <p:cNvSpPr/>
          <p:nvPr/>
        </p:nvSpPr>
        <p:spPr>
          <a:xfrm>
            <a:off x="457200" y="2834640"/>
            <a:ext cx="2743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protection badge"/>
          <p:cNvSpPr/>
          <p:nvPr/>
        </p:nvSpPr>
        <p:spPr>
          <a:xfrm>
            <a:off x="594360" y="29718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mage 0" descr="prot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182880" cy="18288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594360" y="338328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 = HIGH runs the drive; the ESP32 pulls it LOW on over-current, over-voltage or over-temperature. PWM on GPIO26 is held at 100% duty, so speed is not controlled.</a:t>
            </a:r>
            <a:endParaRPr lang="en-US" sz="1200" dirty="0"/>
          </a:p>
        </p:txBody>
      </p:sp>
      <p:sp>
        <p:nvSpPr>
          <p:cNvPr id="44" name="note"/>
          <p:cNvSpPr/>
          <p:nvPr/>
        </p:nvSpPr>
        <p:spPr>
          <a:xfrm>
            <a:off x="6675120" y="3611880"/>
            <a:ext cx="20116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784848" y="361188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128×128 OLED on 4-wire hardware SPI, 3.3 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Working Principle &amp; Flowchart</a:t>
            </a:r>
            <a:endParaRPr lang="en-US" sz="3000" dirty="0"/>
          </a:p>
        </p:txBody>
      </p:sp>
      <p:sp>
        <p:nvSpPr>
          <p:cNvPr id="4" name="flow step"/>
          <p:cNvSpPr/>
          <p:nvPr/>
        </p:nvSpPr>
        <p:spPr>
          <a:xfrm>
            <a:off x="457200" y="137160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566928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1463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Initialize &amp; Self-Test</a:t>
            </a:r>
            <a:endParaRPr lang="en-US" sz="1400" dirty="0"/>
          </a:p>
        </p:txBody>
      </p:sp>
      <p:sp>
        <p:nvSpPr>
          <p:cNvPr id="8" name="flow step"/>
          <p:cNvSpPr/>
          <p:nvPr/>
        </p:nvSpPr>
        <p:spPr>
          <a:xfrm>
            <a:off x="2606040" y="137160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2715768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1576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72968" y="1463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Calibrate ACS712</a:t>
            </a:r>
            <a:endParaRPr lang="en-US" sz="1400" dirty="0"/>
          </a:p>
        </p:txBody>
      </p:sp>
      <p:sp>
        <p:nvSpPr>
          <p:cNvPr id="12" name="flow step"/>
          <p:cNvSpPr/>
          <p:nvPr/>
        </p:nvSpPr>
        <p:spPr>
          <a:xfrm>
            <a:off x="4754880" y="137160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4864608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6460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321808" y="1463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 Sensors</a:t>
            </a:r>
            <a:endParaRPr lang="en-US" sz="1400" dirty="0"/>
          </a:p>
        </p:txBody>
      </p:sp>
      <p:sp>
        <p:nvSpPr>
          <p:cNvPr id="16" name="flow step"/>
          <p:cNvSpPr/>
          <p:nvPr/>
        </p:nvSpPr>
        <p:spPr>
          <a:xfrm>
            <a:off x="6903720" y="137160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7013448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1344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70648" y="14630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Power &amp; Energy</a:t>
            </a:r>
            <a:endParaRPr lang="en-US" sz="1400" dirty="0"/>
          </a:p>
        </p:txBody>
      </p:sp>
      <p:sp>
        <p:nvSpPr>
          <p:cNvPr id="20" name="flow step"/>
          <p:cNvSpPr/>
          <p:nvPr/>
        </p:nvSpPr>
        <p:spPr>
          <a:xfrm>
            <a:off x="6903720" y="31089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"/>
          <p:cNvSpPr/>
          <p:nvPr/>
        </p:nvSpPr>
        <p:spPr>
          <a:xfrm>
            <a:off x="7013448" y="3383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1344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470648" y="32004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Detect Faults</a:t>
            </a:r>
            <a:endParaRPr lang="en-US" sz="1400" dirty="0"/>
          </a:p>
        </p:txBody>
      </p:sp>
      <p:sp>
        <p:nvSpPr>
          <p:cNvPr id="24" name="flow step"/>
          <p:cNvSpPr/>
          <p:nvPr/>
        </p:nvSpPr>
        <p:spPr>
          <a:xfrm>
            <a:off x="4754880" y="31089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"/>
          <p:cNvSpPr/>
          <p:nvPr/>
        </p:nvSpPr>
        <p:spPr>
          <a:xfrm>
            <a:off x="4864608" y="3383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6460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21808" y="32004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Protect &amp; Health Analysis</a:t>
            </a:r>
            <a:endParaRPr lang="en-US" sz="1400" dirty="0"/>
          </a:p>
        </p:txBody>
      </p:sp>
      <p:sp>
        <p:nvSpPr>
          <p:cNvPr id="28" name="flow step"/>
          <p:cNvSpPr/>
          <p:nvPr/>
        </p:nvSpPr>
        <p:spPr>
          <a:xfrm>
            <a:off x="2606040" y="31089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"/>
          <p:cNvSpPr/>
          <p:nvPr/>
        </p:nvSpPr>
        <p:spPr>
          <a:xfrm>
            <a:off x="2715768" y="3383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1576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172968" y="32004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 OLED &amp; Blynk</a:t>
            </a:r>
            <a:endParaRPr lang="en-US" sz="1400" dirty="0"/>
          </a:p>
        </p:txBody>
      </p:sp>
      <p:sp>
        <p:nvSpPr>
          <p:cNvPr id="32" name="flow step"/>
          <p:cNvSpPr/>
          <p:nvPr/>
        </p:nvSpPr>
        <p:spPr>
          <a:xfrm>
            <a:off x="457200" y="310896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number"/>
          <p:cNvSpPr/>
          <p:nvPr/>
        </p:nvSpPr>
        <p:spPr>
          <a:xfrm>
            <a:off x="566928" y="33832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6928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024128" y="32004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Repeat (500 ms)</a:t>
            </a:r>
            <a:endParaRPr lang="en-US" sz="1400" dirty="0"/>
          </a:p>
        </p:txBody>
      </p:sp>
      <p:sp>
        <p:nvSpPr>
          <p:cNvPr id="36" name="arrow"/>
          <p:cNvSpPr/>
          <p:nvPr/>
        </p:nvSpPr>
        <p:spPr>
          <a:xfrm>
            <a:off x="2276856" y="1691640"/>
            <a:ext cx="292608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arrow"/>
          <p:cNvSpPr/>
          <p:nvPr/>
        </p:nvSpPr>
        <p:spPr>
          <a:xfrm>
            <a:off x="2276856" y="3429000"/>
            <a:ext cx="292608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arrow"/>
          <p:cNvSpPr/>
          <p:nvPr/>
        </p:nvSpPr>
        <p:spPr>
          <a:xfrm>
            <a:off x="4425696" y="1691640"/>
            <a:ext cx="292608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arrow"/>
          <p:cNvSpPr/>
          <p:nvPr/>
        </p:nvSpPr>
        <p:spPr>
          <a:xfrm>
            <a:off x="4425696" y="3429000"/>
            <a:ext cx="292608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arrow"/>
          <p:cNvSpPr/>
          <p:nvPr/>
        </p:nvSpPr>
        <p:spPr>
          <a:xfrm>
            <a:off x="6574536" y="1691640"/>
            <a:ext cx="292608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arrow"/>
          <p:cNvSpPr/>
          <p:nvPr/>
        </p:nvSpPr>
        <p:spPr>
          <a:xfrm>
            <a:off x="6574536" y="3429000"/>
            <a:ext cx="292608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arrow"/>
          <p:cNvSpPr/>
          <p:nvPr/>
        </p:nvSpPr>
        <p:spPr>
          <a:xfrm>
            <a:off x="7653528" y="2331720"/>
            <a:ext cx="274320" cy="27432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Calibration runs once at start-up; step 8 returns to step 3. Blynk data is sent every 1 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Sensor Details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371600"/>
                <a:gridCol w="22860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Measures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Voltage sensor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GPIO35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Supply voltage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Divider module, reading × 7.3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Under / over voltage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ACS712-30A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GPIO34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Motor current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66 mV/A, zero offset calibrated at start-up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Over current, stall, no load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DS18B20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GPIO4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Temperature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1-Wire, −55 °C to +125 °C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Over temp, rapid rise, cooling health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</a:rPr>
                        <a:t>MPU6050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I2C 21 / 22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Vibration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±8 g, ±500 °/s, 21 Hz filter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2E"/>
                          </a:solidFill>
                        </a:rPr>
                        <a:t>High vibration, shock, bearing health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lc strip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Calculations: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 = V × I  ·  E = E + P·Δt  ·  Vibration = √(ax²+ay²+az²)  ·  Load = I ÷ 10 A × 100 %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Fault Detection</a:t>
            </a:r>
            <a:endParaRPr lang="en-US" sz="3000" dirty="0"/>
          </a:p>
        </p:txBody>
      </p:sp>
      <p:sp>
        <p:nvSpPr>
          <p:cNvPr id="4" name="fault row"/>
          <p:cNvSpPr/>
          <p:nvPr/>
        </p:nvSpPr>
        <p:spPr>
          <a:xfrm>
            <a:off x="457200" y="123444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ault code"/>
          <p:cNvSpPr/>
          <p:nvPr/>
        </p:nvSpPr>
        <p:spPr>
          <a:xfrm>
            <a:off x="548640" y="1298448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2344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Over Current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1234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8 A</a:t>
            </a:r>
            <a:endParaRPr lang="en-US" sz="1100" dirty="0"/>
          </a:p>
        </p:txBody>
      </p:sp>
      <p:sp>
        <p:nvSpPr>
          <p:cNvPr id="9" name="fault row"/>
          <p:cNvSpPr/>
          <p:nvPr/>
        </p:nvSpPr>
        <p:spPr>
          <a:xfrm>
            <a:off x="457200" y="1709928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ault code"/>
          <p:cNvSpPr/>
          <p:nvPr/>
        </p:nvSpPr>
        <p:spPr>
          <a:xfrm>
            <a:off x="548640" y="1773936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73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70992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Under Voltage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&lt; 20 V</a:t>
            </a:r>
            <a:endParaRPr lang="en-US" sz="1100" dirty="0"/>
          </a:p>
        </p:txBody>
      </p:sp>
      <p:sp>
        <p:nvSpPr>
          <p:cNvPr id="14" name="fault row"/>
          <p:cNvSpPr/>
          <p:nvPr/>
        </p:nvSpPr>
        <p:spPr>
          <a:xfrm>
            <a:off x="457200" y="2185416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fault code"/>
          <p:cNvSpPr/>
          <p:nvPr/>
        </p:nvSpPr>
        <p:spPr>
          <a:xfrm>
            <a:off x="548640" y="2249424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2494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1854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Over Voltage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21854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28 V</a:t>
            </a:r>
            <a:endParaRPr lang="en-US" sz="1100" dirty="0"/>
          </a:p>
        </p:txBody>
      </p:sp>
      <p:sp>
        <p:nvSpPr>
          <p:cNvPr id="19" name="fault row"/>
          <p:cNvSpPr/>
          <p:nvPr/>
        </p:nvSpPr>
        <p:spPr>
          <a:xfrm>
            <a:off x="457200" y="2660904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ault code"/>
          <p:cNvSpPr/>
          <p:nvPr/>
        </p:nvSpPr>
        <p:spPr>
          <a:xfrm>
            <a:off x="548640" y="2724912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7249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266090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Over Temperature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651760" y="26609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60 °C</a:t>
            </a:r>
            <a:endParaRPr lang="en-US" sz="1100" dirty="0"/>
          </a:p>
        </p:txBody>
      </p:sp>
      <p:sp>
        <p:nvSpPr>
          <p:cNvPr id="24" name="fault row"/>
          <p:cNvSpPr/>
          <p:nvPr/>
        </p:nvSpPr>
        <p:spPr>
          <a:xfrm>
            <a:off x="457200" y="3136392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ault code"/>
          <p:cNvSpPr/>
          <p:nvPr/>
        </p:nvSpPr>
        <p:spPr>
          <a:xfrm>
            <a:off x="548640" y="3200400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200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313639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High Vibration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31363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axis &gt; 15 / 15 / 20 m/s²</a:t>
            </a:r>
            <a:endParaRPr lang="en-US" sz="1100" dirty="0"/>
          </a:p>
        </p:txBody>
      </p:sp>
      <p:sp>
        <p:nvSpPr>
          <p:cNvPr id="29" name="fault row"/>
          <p:cNvSpPr/>
          <p:nvPr/>
        </p:nvSpPr>
        <p:spPr>
          <a:xfrm>
            <a:off x="457200" y="361188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fault code"/>
          <p:cNvSpPr/>
          <p:nvPr/>
        </p:nvSpPr>
        <p:spPr>
          <a:xfrm>
            <a:off x="548640" y="3675888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6758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F07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361188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Load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2651760" y="36118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&lt; 0.2 A for 5 s</a:t>
            </a:r>
            <a:endParaRPr lang="en-US" sz="1100" dirty="0"/>
          </a:p>
        </p:txBody>
      </p:sp>
      <p:sp>
        <p:nvSpPr>
          <p:cNvPr id="34" name="fault row"/>
          <p:cNvSpPr/>
          <p:nvPr/>
        </p:nvSpPr>
        <p:spPr>
          <a:xfrm>
            <a:off x="457200" y="4087368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fault code"/>
          <p:cNvSpPr/>
          <p:nvPr/>
        </p:nvSpPr>
        <p:spPr>
          <a:xfrm>
            <a:off x="548640" y="4151376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41513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143000" y="40873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Motor Stall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2651760" y="40873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6 A, low motion</a:t>
            </a:r>
            <a:endParaRPr lang="en-US" sz="1100" dirty="0"/>
          </a:p>
        </p:txBody>
      </p:sp>
      <p:sp>
        <p:nvSpPr>
          <p:cNvPr id="39" name="fault row"/>
          <p:cNvSpPr/>
          <p:nvPr/>
        </p:nvSpPr>
        <p:spPr>
          <a:xfrm>
            <a:off x="4663440" y="123444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fault code"/>
          <p:cNvSpPr/>
          <p:nvPr/>
        </p:nvSpPr>
        <p:spPr>
          <a:xfrm>
            <a:off x="4754880" y="1298448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5488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F09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349240" y="12344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Sensor Failure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858000" y="1234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invalid or missing sensor</a:t>
            </a:r>
            <a:endParaRPr lang="en-US" sz="1100" dirty="0"/>
          </a:p>
        </p:txBody>
      </p:sp>
      <p:sp>
        <p:nvSpPr>
          <p:cNvPr id="44" name="fault row"/>
          <p:cNvSpPr/>
          <p:nvPr/>
        </p:nvSpPr>
        <p:spPr>
          <a:xfrm>
            <a:off x="4663440" y="1709928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fault code"/>
          <p:cNvSpPr/>
          <p:nvPr/>
        </p:nvSpPr>
        <p:spPr>
          <a:xfrm>
            <a:off x="4754880" y="1773936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754880" y="1773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F10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349240" y="170992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Power Overload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858000" y="1709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180 W</a:t>
            </a:r>
            <a:endParaRPr lang="en-US" sz="1100" dirty="0"/>
          </a:p>
        </p:txBody>
      </p:sp>
      <p:sp>
        <p:nvSpPr>
          <p:cNvPr id="49" name="fault row"/>
          <p:cNvSpPr/>
          <p:nvPr/>
        </p:nvSpPr>
        <p:spPr>
          <a:xfrm>
            <a:off x="4663440" y="2185416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fault code"/>
          <p:cNvSpPr/>
          <p:nvPr/>
        </p:nvSpPr>
        <p:spPr>
          <a:xfrm>
            <a:off x="4754880" y="2249424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754880" y="22494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F11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5349240" y="21854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Current Fluctuation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6858000" y="21854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step &gt; 2 A</a:t>
            </a:r>
            <a:endParaRPr lang="en-US" sz="1100" dirty="0"/>
          </a:p>
        </p:txBody>
      </p:sp>
      <p:sp>
        <p:nvSpPr>
          <p:cNvPr id="54" name="fault row"/>
          <p:cNvSpPr/>
          <p:nvPr/>
        </p:nvSpPr>
        <p:spPr>
          <a:xfrm>
            <a:off x="4663440" y="2660904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fault code"/>
          <p:cNvSpPr/>
          <p:nvPr/>
        </p:nvSpPr>
        <p:spPr>
          <a:xfrm>
            <a:off x="4754880" y="2724912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754880" y="27249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F12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5349240" y="266090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Rapid Temp Rise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6858000" y="26609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5 °C in 30 s</a:t>
            </a:r>
            <a:endParaRPr lang="en-US" sz="1100" dirty="0"/>
          </a:p>
        </p:txBody>
      </p:sp>
      <p:sp>
        <p:nvSpPr>
          <p:cNvPr id="59" name="fault row"/>
          <p:cNvSpPr/>
          <p:nvPr/>
        </p:nvSpPr>
        <p:spPr>
          <a:xfrm>
            <a:off x="4663440" y="3136392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fault code"/>
          <p:cNvSpPr/>
          <p:nvPr/>
        </p:nvSpPr>
        <p:spPr>
          <a:xfrm>
            <a:off x="4754880" y="3200400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754880" y="3200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F13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5349240" y="313639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Shock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6858000" y="31363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axis &gt; 25 / 25 / 30 m/s²</a:t>
            </a:r>
            <a:endParaRPr lang="en-US" sz="1100" dirty="0"/>
          </a:p>
        </p:txBody>
      </p:sp>
      <p:sp>
        <p:nvSpPr>
          <p:cNvPr id="64" name="fault row"/>
          <p:cNvSpPr/>
          <p:nvPr/>
        </p:nvSpPr>
        <p:spPr>
          <a:xfrm>
            <a:off x="4663440" y="3611880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5" name="fault code"/>
          <p:cNvSpPr/>
          <p:nvPr/>
        </p:nvSpPr>
        <p:spPr>
          <a:xfrm>
            <a:off x="4754880" y="3675888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754880" y="36758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F14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5349240" y="361188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High Energy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6858000" y="36118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&gt; 1000 Wh</a:t>
            </a:r>
            <a:endParaRPr lang="en-US" sz="1100" dirty="0"/>
          </a:p>
        </p:txBody>
      </p:sp>
      <p:sp>
        <p:nvSpPr>
          <p:cNvPr id="69" name="fault row"/>
          <p:cNvSpPr/>
          <p:nvPr/>
        </p:nvSpPr>
        <p:spPr>
          <a:xfrm>
            <a:off x="4663440" y="4087368"/>
            <a:ext cx="4023360" cy="420624"/>
          </a:xfrm>
          <a:prstGeom prst="roundRect">
            <a:avLst>
              <a:gd name="adj" fmla="val 2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0" name="fault code"/>
          <p:cNvSpPr/>
          <p:nvPr/>
        </p:nvSpPr>
        <p:spPr>
          <a:xfrm>
            <a:off x="4754880" y="4151376"/>
            <a:ext cx="502920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754880" y="41513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F15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349240" y="40873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Blynk Offline</a:t>
            </a:r>
            <a:endParaRPr lang="en-US" sz="1300" dirty="0"/>
          </a:p>
        </p:txBody>
      </p:sp>
      <p:sp>
        <p:nvSpPr>
          <p:cNvPr id="73" name="Text 70"/>
          <p:cNvSpPr txBox="1"/>
          <p:nvPr/>
        </p:nvSpPr>
        <p:spPr>
          <a:xfrm>
            <a:off x="6858000" y="40873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cloud disconnected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Motor Protection &amp; Control</a:t>
            </a:r>
            <a:endParaRPr lang="en-US" sz="3000" dirty="0"/>
          </a:p>
        </p:txBody>
      </p:sp>
      <p:sp>
        <p:nvSpPr>
          <p:cNvPr id="4" name="protect step"/>
          <p:cNvSpPr/>
          <p:nvPr/>
        </p:nvSpPr>
        <p:spPr>
          <a:xfrm>
            <a:off x="457200" y="1234440"/>
            <a:ext cx="18288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ault flags badg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Fault fla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Fault flags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86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 current, over voltage or over temperature.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322576" y="201168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rotect step"/>
          <p:cNvSpPr/>
          <p:nvPr/>
        </p:nvSpPr>
        <p:spPr>
          <a:xfrm>
            <a:off x="2590495" y="1234440"/>
            <a:ext cx="18288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SP32 logic badge"/>
          <p:cNvSpPr/>
          <p:nvPr/>
        </p:nvSpPr>
        <p:spPr>
          <a:xfrm>
            <a:off x="2773375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ESP32 log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05" y="14973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73375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ESP32 logic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773375" y="2286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Checked on every loop cycle, about 500 ms.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4455871" y="201168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rotect step"/>
          <p:cNvSpPr/>
          <p:nvPr/>
        </p:nvSpPr>
        <p:spPr>
          <a:xfrm>
            <a:off x="4723790" y="1234440"/>
            <a:ext cx="18288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nable pin badge"/>
          <p:cNvSpPr/>
          <p:nvPr/>
        </p:nvSpPr>
        <p:spPr>
          <a:xfrm>
            <a:off x="490667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Enable 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400" y="149733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0667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Enable pin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906670" y="2286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GPIO25 is driven LOW to disable the driver.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6589166" y="2011680"/>
            <a:ext cx="22860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rotect step"/>
          <p:cNvSpPr/>
          <p:nvPr/>
        </p:nvSpPr>
        <p:spPr>
          <a:xfrm>
            <a:off x="6857086" y="1234440"/>
            <a:ext cx="18288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Motor stops badge"/>
          <p:cNvSpPr/>
          <p:nvPr/>
        </p:nvSpPr>
        <p:spPr>
          <a:xfrm>
            <a:off x="703996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Motor sto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696" y="149733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39966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Motor stops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039966" y="2286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Drive stays off until the fault clears.</a:t>
            </a:r>
            <a:endParaRPr lang="en-US" sz="1300" dirty="0"/>
          </a:p>
        </p:txBody>
      </p:sp>
      <p:sp>
        <p:nvSpPr>
          <p:cNvPr id="27" name="protect note"/>
          <p:cNvSpPr/>
          <p:nvPr/>
        </p:nvSpPr>
        <p:spPr>
          <a:xfrm>
            <a:off x="457200" y="329184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Automatic restart badge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4" descr="Automatic rest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3783330"/>
            <a:ext cx="251460" cy="2514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1732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restart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1417320" y="3749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EN returns HIGH as soon as all three fault flags clear.</a:t>
            </a:r>
            <a:endParaRPr lang="en-US" sz="1300" dirty="0"/>
          </a:p>
        </p:txBody>
      </p:sp>
      <p:sp>
        <p:nvSpPr>
          <p:cNvPr id="32" name="protect note"/>
          <p:cNvSpPr/>
          <p:nvPr/>
        </p:nvSpPr>
        <p:spPr>
          <a:xfrm>
            <a:off x="4663440" y="329184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Fixed drive level badge"/>
          <p:cNvSpPr/>
          <p:nvPr/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5" descr="Fixed drive leve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70" y="3783330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6235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Fixed drive level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5623560" y="3749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GPIO26 outputs 10 kHz PWM held at 100 % duty; the motor speed is not controlled.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Predictive Maintenance</a:t>
            </a:r>
            <a:endParaRPr lang="en-US" sz="3000" dirty="0"/>
          </a:p>
        </p:txBody>
      </p:sp>
      <p:sp>
        <p:nvSpPr>
          <p:cNvPr id="4" name="score strip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Health Score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100 − penalties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Below 60 → service required</a:t>
            </a:r>
            <a:endParaRPr lang="en-US" sz="1200" dirty="0"/>
          </a:p>
        </p:txBody>
      </p:sp>
      <p:sp>
        <p:nvSpPr>
          <p:cNvPr id="6" name="score band"/>
          <p:cNvSpPr/>
          <p:nvPr/>
        </p:nvSpPr>
        <p:spPr>
          <a:xfrm>
            <a:off x="3154680" y="1344168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34416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≥ 90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EXCELLENT</a:t>
            </a:r>
            <a:endParaRPr lang="en-US" sz="1100" dirty="0"/>
          </a:p>
        </p:txBody>
      </p:sp>
      <p:sp>
        <p:nvSpPr>
          <p:cNvPr id="8" name="score band"/>
          <p:cNvSpPr/>
          <p:nvPr/>
        </p:nvSpPr>
        <p:spPr>
          <a:xfrm>
            <a:off x="4251960" y="1344168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51960" y="134416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≥ 75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GOOD</a:t>
            </a:r>
            <a:endParaRPr lang="en-US" sz="1100" dirty="0"/>
          </a:p>
        </p:txBody>
      </p:sp>
      <p:sp>
        <p:nvSpPr>
          <p:cNvPr id="10" name="score band"/>
          <p:cNvSpPr/>
          <p:nvPr/>
        </p:nvSpPr>
        <p:spPr>
          <a:xfrm>
            <a:off x="5349240" y="1344168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134416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≥ 60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WARNING</a:t>
            </a:r>
            <a:endParaRPr lang="en-US" sz="1100" dirty="0"/>
          </a:p>
        </p:txBody>
      </p:sp>
      <p:sp>
        <p:nvSpPr>
          <p:cNvPr id="12" name="score band"/>
          <p:cNvSpPr/>
          <p:nvPr/>
        </p:nvSpPr>
        <p:spPr>
          <a:xfrm>
            <a:off x="6446520" y="1344168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134416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≥ 40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SERVICE</a:t>
            </a:r>
            <a:endParaRPr lang="en-US" sz="1100" dirty="0"/>
          </a:p>
        </p:txBody>
      </p:sp>
      <p:sp>
        <p:nvSpPr>
          <p:cNvPr id="14" name="score band"/>
          <p:cNvSpPr/>
          <p:nvPr/>
        </p:nvSpPr>
        <p:spPr>
          <a:xfrm>
            <a:off x="7543800" y="1344168"/>
            <a:ext cx="1024128" cy="640080"/>
          </a:xfrm>
          <a:prstGeom prst="roundRect">
            <a:avLst>
              <a:gd name="adj" fmla="val 11429"/>
            </a:avLst>
          </a:prstGeom>
          <a:solidFill>
            <a:srgbClr val="C93C3C"/>
          </a:solidFill>
          <a:ln w="12700">
            <a:solidFill>
              <a:srgbClr val="C93C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43800" y="1344168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&lt; 40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CRITICAL</a:t>
            </a:r>
            <a:endParaRPr lang="en-US" sz="1100" dirty="0"/>
          </a:p>
        </p:txBody>
      </p:sp>
      <p:sp>
        <p:nvSpPr>
          <p:cNvPr id="16" name="sub health"/>
          <p:cNvSpPr/>
          <p:nvPr/>
        </p:nvSpPr>
        <p:spPr>
          <a:xfrm>
            <a:off x="457200" y="228600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earing badge"/>
          <p:cNvSpPr/>
          <p:nvPr/>
        </p:nvSpPr>
        <p:spPr>
          <a:xfrm>
            <a:off x="594360" y="2423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0" descr="Bea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2526030"/>
            <a:ext cx="205740" cy="205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Bearing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Vibration above 18 and 25 m/s²</a:t>
            </a:r>
            <a:endParaRPr lang="en-US" sz="1200" dirty="0"/>
          </a:p>
        </p:txBody>
      </p:sp>
      <p:sp>
        <p:nvSpPr>
          <p:cNvPr id="21" name="sub health"/>
          <p:cNvSpPr/>
          <p:nvPr/>
        </p:nvSpPr>
        <p:spPr>
          <a:xfrm>
            <a:off x="2468880" y="228600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oling badge"/>
          <p:cNvSpPr/>
          <p:nvPr/>
        </p:nvSpPr>
        <p:spPr>
          <a:xfrm>
            <a:off x="2606040" y="2423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1" descr="Coo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0" y="2526030"/>
            <a:ext cx="205740" cy="2057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10896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Cooling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260604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 above 45, 55 and 65 °C</a:t>
            </a:r>
            <a:endParaRPr lang="en-US" sz="1200" dirty="0"/>
          </a:p>
        </p:txBody>
      </p:sp>
      <p:sp>
        <p:nvSpPr>
          <p:cNvPr id="26" name="sub health"/>
          <p:cNvSpPr/>
          <p:nvPr/>
        </p:nvSpPr>
        <p:spPr>
          <a:xfrm>
            <a:off x="4480560" y="228600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Electrical badge"/>
          <p:cNvSpPr/>
          <p:nvPr/>
        </p:nvSpPr>
        <p:spPr>
          <a:xfrm>
            <a:off x="4617720" y="2423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2" descr="Electric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590" y="2526030"/>
            <a:ext cx="205740" cy="2057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1206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Electrical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4617720" y="29260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Current above 5 / 7 A, voltage below 22 V or above 26 V</a:t>
            </a:r>
            <a:endParaRPr lang="en-US" sz="1200" dirty="0"/>
          </a:p>
        </p:txBody>
      </p:sp>
      <p:sp>
        <p:nvSpPr>
          <p:cNvPr id="31" name="arrow"/>
          <p:cNvSpPr/>
          <p:nvPr/>
        </p:nvSpPr>
        <p:spPr>
          <a:xfrm>
            <a:off x="6446520" y="2852928"/>
            <a:ext cx="25603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motor health"/>
          <p:cNvSpPr/>
          <p:nvPr/>
        </p:nvSpPr>
        <p:spPr>
          <a:xfrm>
            <a:off x="6766560" y="228600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90372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MOTOR HEALTH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903720" y="26974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Average of the three, giving remaining life and wear %</a:t>
            </a:r>
            <a:endParaRPr lang="en-US" sz="1300" dirty="0"/>
          </a:p>
        </p:txBody>
      </p:sp>
      <p:sp>
        <p:nvSpPr>
          <p:cNvPr id="35" name="banner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Output: CHECK BEARING · CHECK COOLING · CHECK POWER · GENERAL SERVICE · NORMAL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Performance &amp; Diagnostics</a:t>
            </a:r>
            <a:endParaRPr lang="en-US" sz="3000" dirty="0"/>
          </a:p>
        </p:txBody>
      </p:sp>
      <p:sp>
        <p:nvSpPr>
          <p:cNvPr id="4" name="analytics card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istics badge"/>
          <p:cNvSpPr/>
          <p:nvPr/>
        </p:nvSpPr>
        <p:spPr>
          <a:xfrm>
            <a:off x="685800" y="16642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tatis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24228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Statistics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Maximum and average of voltage, current, temperature, power and vibration.</a:t>
            </a:r>
            <a:endParaRPr lang="en-US" sz="1400" dirty="0"/>
          </a:p>
        </p:txBody>
      </p:sp>
      <p:sp>
        <p:nvSpPr>
          <p:cNvPr id="9" name="analytics card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erformance analysis badge"/>
          <p:cNvSpPr/>
          <p:nvPr/>
        </p:nvSpPr>
        <p:spPr>
          <a:xfrm>
            <a:off x="4892040" y="16642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erformance analy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2422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6072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Performance analysis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Estimated efficiency and power factor, load %, performance and reliability index.</a:t>
            </a:r>
            <a:endParaRPr lang="en-US" sz="1400" dirty="0"/>
          </a:p>
        </p:txBody>
      </p:sp>
      <p:sp>
        <p:nvSpPr>
          <p:cNvPr id="14" name="analytics card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elf-diagnostics badge"/>
          <p:cNvSpPr/>
          <p:nvPr/>
        </p:nvSpPr>
        <p:spPr>
          <a:xfrm>
            <a:off x="685800" y="32644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Self-diagnos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2442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Self-diagnostics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 checks: voltage, current, temperature, MPU6050, Wi-Fi and Blynk.</a:t>
            </a:r>
            <a:endParaRPr lang="en-US" sz="1400" dirty="0"/>
          </a:p>
        </p:txBody>
      </p:sp>
      <p:sp>
        <p:nvSpPr>
          <p:cNvPr id="19" name="analytics card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ata logging badge"/>
          <p:cNvSpPr/>
          <p:nvPr/>
        </p:nvSpPr>
        <p:spPr>
          <a:xfrm>
            <a:off x="4892040" y="32644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Data log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244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logging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6072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Energy, run time and fault count saved every 30 s; last 10 faults kept with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OLED Output (12 Pages)</a:t>
            </a:r>
            <a:endParaRPr lang="en-US" sz="3000" dirty="0"/>
          </a:p>
        </p:txBody>
      </p:sp>
      <p:sp>
        <p:nvSpPr>
          <p:cNvPr id="4" name="oled page"/>
          <p:cNvSpPr/>
          <p:nvPr/>
        </p:nvSpPr>
        <p:spPr>
          <a:xfrm>
            <a:off x="45720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ge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344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Institution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Title page</a:t>
            </a:r>
            <a:endParaRPr lang="en-US" sz="1200" dirty="0"/>
          </a:p>
        </p:txBody>
      </p:sp>
      <p:sp>
        <p:nvSpPr>
          <p:cNvPr id="9" name="oled page"/>
          <p:cNvSpPr/>
          <p:nvPr/>
        </p:nvSpPr>
        <p:spPr>
          <a:xfrm>
            <a:off x="256032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ge number"/>
          <p:cNvSpPr/>
          <p:nvPr/>
        </p:nvSpPr>
        <p:spPr>
          <a:xfrm>
            <a:off x="2670048" y="1344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7004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1344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Drive System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70048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 · I · P · E</a:t>
            </a:r>
            <a:endParaRPr lang="en-US" sz="1200" dirty="0"/>
          </a:p>
        </p:txBody>
      </p:sp>
      <p:sp>
        <p:nvSpPr>
          <p:cNvPr id="14" name="oled page"/>
          <p:cNvSpPr/>
          <p:nvPr/>
        </p:nvSpPr>
        <p:spPr>
          <a:xfrm>
            <a:off x="466344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ge number"/>
          <p:cNvSpPr/>
          <p:nvPr/>
        </p:nvSpPr>
        <p:spPr>
          <a:xfrm>
            <a:off x="4773168" y="1344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1344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Temperature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Value and state</a:t>
            </a:r>
            <a:endParaRPr lang="en-US" sz="1200" dirty="0"/>
          </a:p>
        </p:txBody>
      </p:sp>
      <p:sp>
        <p:nvSpPr>
          <p:cNvPr id="19" name="oled page"/>
          <p:cNvSpPr/>
          <p:nvPr/>
        </p:nvSpPr>
        <p:spPr>
          <a:xfrm>
            <a:off x="676656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ge number"/>
          <p:cNvSpPr/>
          <p:nvPr/>
        </p:nvSpPr>
        <p:spPr>
          <a:xfrm>
            <a:off x="6876288" y="1344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7628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1344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Vibration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AX · AY · AZ</a:t>
            </a:r>
            <a:endParaRPr lang="en-US" sz="1200" dirty="0"/>
          </a:p>
        </p:txBody>
      </p:sp>
      <p:sp>
        <p:nvSpPr>
          <p:cNvPr id="24" name="oled page"/>
          <p:cNvSpPr/>
          <p:nvPr/>
        </p:nvSpPr>
        <p:spPr>
          <a:xfrm>
            <a:off x="457200" y="233172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ge number"/>
          <p:cNvSpPr/>
          <p:nvPr/>
        </p:nvSpPr>
        <p:spPr>
          <a:xfrm>
            <a:off x="566928" y="2441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24414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System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2898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Motor, I, V, vibration</a:t>
            </a:r>
            <a:endParaRPr lang="en-US" sz="1200" dirty="0"/>
          </a:p>
        </p:txBody>
      </p:sp>
      <p:sp>
        <p:nvSpPr>
          <p:cNvPr id="29" name="oled page"/>
          <p:cNvSpPr/>
          <p:nvPr/>
        </p:nvSpPr>
        <p:spPr>
          <a:xfrm>
            <a:off x="2560320" y="233172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ge number"/>
          <p:cNvSpPr/>
          <p:nvPr/>
        </p:nvSpPr>
        <p:spPr>
          <a:xfrm>
            <a:off x="2670048" y="2441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67004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24414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Fault Status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2670048" y="2898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Code · event · count</a:t>
            </a:r>
            <a:endParaRPr lang="en-US" sz="1200" dirty="0"/>
          </a:p>
        </p:txBody>
      </p:sp>
      <p:sp>
        <p:nvSpPr>
          <p:cNvPr id="34" name="oled page"/>
          <p:cNvSpPr/>
          <p:nvPr/>
        </p:nvSpPr>
        <p:spPr>
          <a:xfrm>
            <a:off x="4663440" y="233172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page number"/>
          <p:cNvSpPr/>
          <p:nvPr/>
        </p:nvSpPr>
        <p:spPr>
          <a:xfrm>
            <a:off x="4773168" y="2441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7316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212080" y="24414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Motor Health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4773168" y="2898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Score · run time</a:t>
            </a:r>
            <a:endParaRPr lang="en-US" sz="1200" dirty="0"/>
          </a:p>
        </p:txBody>
      </p:sp>
      <p:sp>
        <p:nvSpPr>
          <p:cNvPr id="39" name="oled page"/>
          <p:cNvSpPr/>
          <p:nvPr/>
        </p:nvSpPr>
        <p:spPr>
          <a:xfrm>
            <a:off x="6766560" y="233172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page number"/>
          <p:cNvSpPr/>
          <p:nvPr/>
        </p:nvSpPr>
        <p:spPr>
          <a:xfrm>
            <a:off x="6876288" y="2441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7628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0" y="24414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Fault History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6876288" y="2898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Last 5 faults</a:t>
            </a:r>
            <a:endParaRPr lang="en-US" sz="1200" dirty="0"/>
          </a:p>
        </p:txBody>
      </p:sp>
      <p:sp>
        <p:nvSpPr>
          <p:cNvPr id="44" name="oled page"/>
          <p:cNvSpPr/>
          <p:nvPr/>
        </p:nvSpPr>
        <p:spPr>
          <a:xfrm>
            <a:off x="457200" y="342900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page number"/>
          <p:cNvSpPr/>
          <p:nvPr/>
        </p:nvSpPr>
        <p:spPr>
          <a:xfrm>
            <a:off x="566928" y="3538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692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05840" y="3538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Max / average values</a:t>
            </a:r>
            <a:endParaRPr lang="en-US" sz="1200" dirty="0"/>
          </a:p>
        </p:txBody>
      </p:sp>
      <p:sp>
        <p:nvSpPr>
          <p:cNvPr id="49" name="oled page"/>
          <p:cNvSpPr/>
          <p:nvPr/>
        </p:nvSpPr>
        <p:spPr>
          <a:xfrm>
            <a:off x="2560320" y="342900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page number"/>
          <p:cNvSpPr/>
          <p:nvPr/>
        </p:nvSpPr>
        <p:spPr>
          <a:xfrm>
            <a:off x="2670048" y="3538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67004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3108960" y="3538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Predictive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2670048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Bearing · cooling · life</a:t>
            </a:r>
            <a:endParaRPr lang="en-US" sz="1200" dirty="0"/>
          </a:p>
        </p:txBody>
      </p:sp>
      <p:sp>
        <p:nvSpPr>
          <p:cNvPr id="54" name="oled page"/>
          <p:cNvSpPr/>
          <p:nvPr/>
        </p:nvSpPr>
        <p:spPr>
          <a:xfrm>
            <a:off x="4663440" y="342900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page number"/>
          <p:cNvSpPr/>
          <p:nvPr/>
        </p:nvSpPr>
        <p:spPr>
          <a:xfrm>
            <a:off x="4773168" y="3538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77316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5212080" y="3538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System Status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4773168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Sensors, Wi-Fi, Blynk</a:t>
            </a:r>
            <a:endParaRPr lang="en-US" sz="1200" dirty="0"/>
          </a:p>
        </p:txBody>
      </p:sp>
      <p:sp>
        <p:nvSpPr>
          <p:cNvPr id="59" name="oled page"/>
          <p:cNvSpPr/>
          <p:nvPr/>
        </p:nvSpPr>
        <p:spPr>
          <a:xfrm>
            <a:off x="6766560" y="342900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page number"/>
          <p:cNvSpPr/>
          <p:nvPr/>
        </p:nvSpPr>
        <p:spPr>
          <a:xfrm>
            <a:off x="6876288" y="353872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876288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7315200" y="3538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6876288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Eff · load · PF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Pages rotate automatically every 3 seconds on the SSD1327 display.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Blynk Dashboard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80160"/>
            <a:ext cx="4846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Blynk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732"/>
            <a:ext cx="4846320" cy="260489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Blynk Console: BLDC Motor Monitor dashboard with gauges for voltage, current, temperature, power, energy, health score, performance status and load.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Datastream groups</a:t>
            </a:r>
            <a:endParaRPr lang="en-US" sz="1600" dirty="0"/>
          </a:p>
        </p:txBody>
      </p:sp>
      <p:sp>
        <p:nvSpPr>
          <p:cNvPr id="8" name="stream chip"/>
          <p:cNvSpPr/>
          <p:nvPr/>
        </p:nvSpPr>
        <p:spPr>
          <a:xfrm>
            <a:off x="5486400" y="160020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596128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Live data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V0–V4, V9</a:t>
            </a:r>
            <a:endParaRPr lang="en-US" sz="1200" dirty="0"/>
          </a:p>
        </p:txBody>
      </p:sp>
      <p:sp>
        <p:nvSpPr>
          <p:cNvPr id="11" name="stream chip"/>
          <p:cNvSpPr/>
          <p:nvPr/>
        </p:nvSpPr>
        <p:spPr>
          <a:xfrm>
            <a:off x="5486400" y="201168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59612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Fault &amp; status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V5–V8, V16–V18</a:t>
            </a:r>
            <a:endParaRPr lang="en-US" sz="1200" dirty="0"/>
          </a:p>
        </p:txBody>
      </p:sp>
      <p:sp>
        <p:nvSpPr>
          <p:cNvPr id="14" name="stream chip"/>
          <p:cNvSpPr/>
          <p:nvPr/>
        </p:nvSpPr>
        <p:spPr>
          <a:xfrm>
            <a:off x="5486400" y="242316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596128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Vibration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0" y="2423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V10–V15</a:t>
            </a:r>
            <a:endParaRPr lang="en-US" sz="1200" dirty="0"/>
          </a:p>
        </p:txBody>
      </p:sp>
      <p:sp>
        <p:nvSpPr>
          <p:cNvPr id="17" name="stream chip"/>
          <p:cNvSpPr/>
          <p:nvPr/>
        </p:nvSpPr>
        <p:spPr>
          <a:xfrm>
            <a:off x="5486400" y="283464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596128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086600" y="2834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V19–V26</a:t>
            </a:r>
            <a:endParaRPr lang="en-US" sz="1200" dirty="0"/>
          </a:p>
        </p:txBody>
      </p:sp>
      <p:sp>
        <p:nvSpPr>
          <p:cNvPr id="20" name="stream chip"/>
          <p:cNvSpPr/>
          <p:nvPr/>
        </p:nvSpPr>
        <p:spPr>
          <a:xfrm>
            <a:off x="5486400" y="324612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596128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Predictive health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08660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V27–V33</a:t>
            </a:r>
            <a:endParaRPr lang="en-US" sz="1200" dirty="0"/>
          </a:p>
        </p:txBody>
      </p:sp>
      <p:sp>
        <p:nvSpPr>
          <p:cNvPr id="23" name="stream chip"/>
          <p:cNvSpPr/>
          <p:nvPr/>
        </p:nvSpPr>
        <p:spPr>
          <a:xfrm>
            <a:off x="5486400" y="365760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596128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Diagnostics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3657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V34–V41</a:t>
            </a:r>
            <a:endParaRPr lang="en-US" sz="1200" dirty="0"/>
          </a:p>
        </p:txBody>
      </p:sp>
      <p:sp>
        <p:nvSpPr>
          <p:cNvPr id="26" name="stream chip"/>
          <p:cNvSpPr/>
          <p:nvPr/>
        </p:nvSpPr>
        <p:spPr>
          <a:xfrm>
            <a:off x="5486400" y="4069080"/>
            <a:ext cx="320040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596128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08660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V42–V49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Experimental Setup</a:t>
            </a:r>
            <a:endParaRPr lang="en-US" sz="3000" dirty="0"/>
          </a:p>
        </p:txBody>
      </p:sp>
      <p:sp>
        <p:nvSpPr>
          <p:cNvPr id="4" name="image frame"/>
          <p:cNvSpPr/>
          <p:nvPr/>
        </p:nvSpPr>
        <p:spPr>
          <a:xfrm>
            <a:off x="457200" y="1234440"/>
            <a:ext cx="5760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DE"/>
            </a:solidFill>
            <a:prstDash val="solid"/>
          </a:ln>
        </p:spPr>
      </p:sp>
      <p:pic>
        <p:nvPicPr>
          <p:cNvPr id="5" name="Image 0" descr="Hardware proto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5070"/>
            <a:ext cx="5760720" cy="2721940"/>
          </a:xfrm>
          <a:prstGeom prst="rect">
            <a:avLst/>
          </a:prstGeom>
        </p:spPr>
      </p:pic>
      <p:sp>
        <p:nvSpPr>
          <p:cNvPr id="6" name="label list"/>
          <p:cNvSpPr/>
          <p:nvPr/>
        </p:nvSpPr>
        <p:spPr>
          <a:xfrm>
            <a:off x="6400800" y="1234440"/>
            <a:ext cx="22860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83680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IN THE PHOTO</a:t>
            </a:r>
            <a:endParaRPr lang="en-US" sz="12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56232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49440" y="1783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ESP32 and sensors</a:t>
            </a:r>
            <a:endParaRPr lang="en-US" sz="13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86584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949440" y="23134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BLDC driver and motor</a:t>
            </a:r>
            <a:endParaRPr lang="en-US" sz="1300" dirty="0"/>
          </a:p>
        </p:txBody>
      </p:sp>
      <p:pic>
        <p:nvPicPr>
          <p:cNvPr id="12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16936"/>
            <a:ext cx="237744" cy="2377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49440" y="28437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24 V SMPS</a:t>
            </a:r>
            <a:endParaRPr lang="en-US" sz="1300" dirty="0"/>
          </a:p>
        </p:txBody>
      </p:sp>
      <p:pic>
        <p:nvPicPr>
          <p:cNvPr id="14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447288"/>
            <a:ext cx="237744" cy="2377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949440" y="3374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1.5-inch OLED</a:t>
            </a:r>
            <a:endParaRPr lang="en-US" sz="1300" dirty="0"/>
          </a:p>
        </p:txBody>
      </p:sp>
      <p:sp>
        <p:nvSpPr>
          <p:cNvPr id="16" name="caption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Prototype: ESP32 with ACS712, voltage sensor, DS18B20 and MPU6050, powered from a 24 V SMPS through a BLDC driver.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Expected Outcomes</a:t>
            </a:r>
            <a:endParaRPr lang="en-US" sz="3000" dirty="0"/>
          </a:p>
        </p:txBody>
      </p:sp>
      <p:sp>
        <p:nvSpPr>
          <p:cNvPr id="4" name="outcome row"/>
          <p:cNvSpPr/>
          <p:nvPr/>
        </p:nvSpPr>
        <p:spPr>
          <a:xfrm>
            <a:off x="457200" y="1234440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eck badge"/>
          <p:cNvSpPr/>
          <p:nvPr/>
        </p:nvSpPr>
        <p:spPr>
          <a:xfrm>
            <a:off x="566928" y="13258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21892"/>
            <a:ext cx="192024" cy="1920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1234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Intelligent, self-monitoring BLDC motor drive implemented</a:t>
            </a:r>
            <a:endParaRPr lang="en-US" sz="1250" dirty="0"/>
          </a:p>
        </p:txBody>
      </p:sp>
      <p:sp>
        <p:nvSpPr>
          <p:cNvPr id="8" name="outcome row"/>
          <p:cNvSpPr/>
          <p:nvPr/>
        </p:nvSpPr>
        <p:spPr>
          <a:xfrm>
            <a:off x="457200" y="1892808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eck badge"/>
          <p:cNvSpPr/>
          <p:nvPr/>
        </p:nvSpPr>
        <p:spPr>
          <a:xfrm>
            <a:off x="566928" y="198424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80260"/>
            <a:ext cx="192024" cy="192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18928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Automatic protection on over-current, over-voltage and over-temperature</a:t>
            </a:r>
            <a:endParaRPr lang="en-US" sz="1250" dirty="0"/>
          </a:p>
        </p:txBody>
      </p:sp>
      <p:sp>
        <p:nvSpPr>
          <p:cNvPr id="12" name="outcome row"/>
          <p:cNvSpPr/>
          <p:nvPr/>
        </p:nvSpPr>
        <p:spPr>
          <a:xfrm>
            <a:off x="457200" y="2551176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eck badge"/>
          <p:cNvSpPr/>
          <p:nvPr/>
        </p:nvSpPr>
        <p:spPr>
          <a:xfrm>
            <a:off x="566928" y="264261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38628"/>
            <a:ext cx="192024" cy="1920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551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Real-time monitoring of current, voltage, temperature and vibration</a:t>
            </a:r>
            <a:endParaRPr lang="en-US" sz="1250" dirty="0"/>
          </a:p>
        </p:txBody>
      </p:sp>
      <p:sp>
        <p:nvSpPr>
          <p:cNvPr id="16" name="outcome row"/>
          <p:cNvSpPr/>
          <p:nvPr/>
        </p:nvSpPr>
        <p:spPr>
          <a:xfrm>
            <a:off x="457200" y="3209544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heck badge"/>
          <p:cNvSpPr/>
          <p:nvPr/>
        </p:nvSpPr>
        <p:spPr>
          <a:xfrm>
            <a:off x="566928" y="3300984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396996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3209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Energy consumption analysis and efficiency monitoring</a:t>
            </a:r>
            <a:endParaRPr lang="en-US" sz="1250" dirty="0"/>
          </a:p>
        </p:txBody>
      </p:sp>
      <p:sp>
        <p:nvSpPr>
          <p:cNvPr id="20" name="outcome row"/>
          <p:cNvSpPr/>
          <p:nvPr/>
        </p:nvSpPr>
        <p:spPr>
          <a:xfrm>
            <a:off x="457200" y="3867912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heck badge"/>
          <p:cNvSpPr/>
          <p:nvPr/>
        </p:nvSpPr>
        <p:spPr>
          <a:xfrm>
            <a:off x="566928" y="395935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055364"/>
            <a:ext cx="192024" cy="1920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7280" y="3867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Early fault detection using multi-parameter condition monitoring</a:t>
            </a:r>
            <a:endParaRPr lang="en-US" sz="1250" dirty="0"/>
          </a:p>
        </p:txBody>
      </p:sp>
      <p:sp>
        <p:nvSpPr>
          <p:cNvPr id="24" name="outcome row"/>
          <p:cNvSpPr/>
          <p:nvPr/>
        </p:nvSpPr>
        <p:spPr>
          <a:xfrm>
            <a:off x="4663440" y="1234440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heck badge"/>
          <p:cNvSpPr/>
          <p:nvPr/>
        </p:nvSpPr>
        <p:spPr>
          <a:xfrm>
            <a:off x="4773168" y="132588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1421892"/>
            <a:ext cx="192024" cy="19202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03520" y="1234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Predictive maintenance alerts to reduce unexpected breakdowns</a:t>
            </a:r>
            <a:endParaRPr lang="en-US" sz="1250" dirty="0"/>
          </a:p>
        </p:txBody>
      </p:sp>
      <p:sp>
        <p:nvSpPr>
          <p:cNvPr id="28" name="outcome row"/>
          <p:cNvSpPr/>
          <p:nvPr/>
        </p:nvSpPr>
        <p:spPr>
          <a:xfrm>
            <a:off x="4663440" y="1892808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heck badge"/>
          <p:cNvSpPr/>
          <p:nvPr/>
        </p:nvSpPr>
        <p:spPr>
          <a:xfrm>
            <a:off x="4773168" y="1984248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0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2080260"/>
            <a:ext cx="192024" cy="19202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303520" y="18928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IoT remote monitoring through an ESP32 dashboard</a:t>
            </a:r>
            <a:endParaRPr lang="en-US" sz="1250" dirty="0"/>
          </a:p>
        </p:txBody>
      </p:sp>
      <p:sp>
        <p:nvSpPr>
          <p:cNvPr id="32" name="outcome row"/>
          <p:cNvSpPr/>
          <p:nvPr/>
        </p:nvSpPr>
        <p:spPr>
          <a:xfrm>
            <a:off x="4663440" y="2551176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check badge"/>
          <p:cNvSpPr/>
          <p:nvPr/>
        </p:nvSpPr>
        <p:spPr>
          <a:xfrm>
            <a:off x="4773168" y="2642616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4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180" y="2738628"/>
            <a:ext cx="192024" cy="19202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303520" y="2551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Validation through MATLAB/Simulink and a hardware prototype</a:t>
            </a:r>
            <a:endParaRPr lang="en-US" sz="1250" dirty="0"/>
          </a:p>
        </p:txBody>
      </p:sp>
      <p:sp>
        <p:nvSpPr>
          <p:cNvPr id="36" name="outcome row"/>
          <p:cNvSpPr/>
          <p:nvPr/>
        </p:nvSpPr>
        <p:spPr>
          <a:xfrm>
            <a:off x="4663440" y="3209544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check badge"/>
          <p:cNvSpPr/>
          <p:nvPr/>
        </p:nvSpPr>
        <p:spPr>
          <a:xfrm>
            <a:off x="4773168" y="3300984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8" name="Image 8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9180" y="3396996"/>
            <a:ext cx="192024" cy="19202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5303520" y="3209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Improved reliability, less downtime and lower maintenance cost</a:t>
            </a:r>
            <a:endParaRPr lang="en-US" sz="1250" dirty="0"/>
          </a:p>
        </p:txBody>
      </p:sp>
      <p:sp>
        <p:nvSpPr>
          <p:cNvPr id="40" name="outcome row"/>
          <p:cNvSpPr/>
          <p:nvPr/>
        </p:nvSpPr>
        <p:spPr>
          <a:xfrm>
            <a:off x="4663440" y="3867912"/>
            <a:ext cx="402336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check badge"/>
          <p:cNvSpPr/>
          <p:nvPr/>
        </p:nvSpPr>
        <p:spPr>
          <a:xfrm>
            <a:off x="4773168" y="395935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2" name="Image 9" descr="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9180" y="4055364"/>
            <a:ext cx="192024" cy="19202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5303520" y="3867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Low-cost smart motor drive for industrial automation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Future Scope</a:t>
            </a:r>
            <a:endParaRPr lang="en-US" sz="3000" dirty="0"/>
          </a:p>
        </p:txBody>
      </p:sp>
      <p:sp>
        <p:nvSpPr>
          <p:cNvPr id="4" name="future card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I fault prediction badg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I fault 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fault prediction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1546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 from fault history to forecast failures.</a:t>
            </a:r>
            <a:endParaRPr lang="en-US" sz="1400" dirty="0"/>
          </a:p>
        </p:txBody>
      </p:sp>
      <p:sp>
        <p:nvSpPr>
          <p:cNvPr id="9" name="future card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ADA integration badge"/>
          <p:cNvSpPr/>
          <p:nvPr/>
        </p:nvSpPr>
        <p:spPr>
          <a:xfrm>
            <a:off x="27889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SCADA integ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940" y="17602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SCADA integration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2743200" y="31546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to plant-level supervisory systems.</a:t>
            </a:r>
            <a:endParaRPr lang="en-US" sz="1400" dirty="0"/>
          </a:p>
        </p:txBody>
      </p:sp>
      <p:sp>
        <p:nvSpPr>
          <p:cNvPr id="14" name="future card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loud analytics badg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Cloud analyt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7602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4632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Cloud analytics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4846320" y="31546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Long-term trends and multi-motor analysis.</a:t>
            </a:r>
            <a:endParaRPr lang="en-US" sz="1400" dirty="0"/>
          </a:p>
        </p:txBody>
      </p:sp>
      <p:sp>
        <p:nvSpPr>
          <p:cNvPr id="19" name="future card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PM / Torque sensing badge"/>
          <p:cNvSpPr/>
          <p:nvPr/>
        </p:nvSpPr>
        <p:spPr>
          <a:xfrm>
            <a:off x="69951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RPM / Torque sens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17602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RPM / Torque sensing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6949440" y="31546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speed and torque for deeper diagnosis.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low-cost ESP32-based intelligent BLDC drive that monitors voltage, current, temperature and vibration, detects faults, protects the motor and predicts maintenance, validated through MATLAB/Simulink simulation and a hardware prototype.</a:t>
            </a:r>
            <a:endParaRPr lang="en-US" sz="2000" dirty="0"/>
          </a:p>
        </p:txBody>
      </p:sp>
      <p:sp>
        <p:nvSpPr>
          <p:cNvPr id="4" name="outcome"/>
          <p:cNvSpPr/>
          <p:nvPr/>
        </p:nvSpPr>
        <p:spPr>
          <a:xfrm>
            <a:off x="64008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al-time monitoring badge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Real-time monit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6347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32004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Real-time monitoring</a:t>
            </a:r>
            <a:endParaRPr lang="en-US" sz="1500" dirty="0"/>
          </a:p>
        </p:txBody>
      </p:sp>
      <p:sp>
        <p:nvSpPr>
          <p:cNvPr id="8" name="outcome"/>
          <p:cNvSpPr/>
          <p:nvPr/>
        </p:nvSpPr>
        <p:spPr>
          <a:xfrm>
            <a:off x="333756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ault detection badge"/>
          <p:cNvSpPr/>
          <p:nvPr/>
        </p:nvSpPr>
        <p:spPr>
          <a:xfrm>
            <a:off x="3520440" y="3520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Fault de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3634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32004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Fault detection</a:t>
            </a:r>
            <a:endParaRPr lang="en-US" sz="1500" dirty="0"/>
          </a:p>
        </p:txBody>
      </p:sp>
      <p:sp>
        <p:nvSpPr>
          <p:cNvPr id="12" name="outcome"/>
          <p:cNvSpPr/>
          <p:nvPr/>
        </p:nvSpPr>
        <p:spPr>
          <a:xfrm>
            <a:off x="603504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redictive maintenance badge"/>
          <p:cNvSpPr/>
          <p:nvPr/>
        </p:nvSpPr>
        <p:spPr>
          <a:xfrm>
            <a:off x="6217920" y="3520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Predictive mainten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36347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12280" y="32004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Predictive maintenance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4" name="reference"/>
          <p:cNvSpPr/>
          <p:nvPr/>
        </p:nvSpPr>
        <p:spPr>
          <a:xfrm>
            <a:off x="457200" y="1188720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566928" y="13898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18872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Raja, H. A., Raval, H., Vaimann, T., Kallaste, A., Rassolkin, A., &amp; Belahcen, A. (2022). Cost-efficient real-time condition monitoring and fault diagnostics system for BLDC motor using IoT and machine learning.</a:t>
            </a:r>
            <a:endParaRPr lang="en-US" sz="1050" dirty="0"/>
          </a:p>
        </p:txBody>
      </p:sp>
      <p:sp>
        <p:nvSpPr>
          <p:cNvPr id="8" name="reference"/>
          <p:cNvSpPr/>
          <p:nvPr/>
        </p:nvSpPr>
        <p:spPr>
          <a:xfrm>
            <a:off x="457200" y="2029968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566928" y="22311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0299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IoT based condition monitoring and control of induction motor using Raspberry Pi (2022).</a:t>
            </a:r>
            <a:endParaRPr lang="en-US" sz="1050" dirty="0"/>
          </a:p>
        </p:txBody>
      </p:sp>
      <p:sp>
        <p:nvSpPr>
          <p:cNvPr id="12" name="reference"/>
          <p:cNvSpPr/>
          <p:nvPr/>
        </p:nvSpPr>
        <p:spPr>
          <a:xfrm>
            <a:off x="457200" y="2871216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566928" y="3072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87121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do Nascimento, L. S., da Silva, E. P., &amp; Pereira, E. G. (2024). Development of a data acquisition and monitoring system for electric motors using the Internet of Things. CBA 2024. doi:10.20906/CBA2024/4526</a:t>
            </a:r>
            <a:endParaRPr lang="en-US" sz="1050" dirty="0"/>
          </a:p>
        </p:txBody>
      </p:sp>
      <p:sp>
        <p:nvSpPr>
          <p:cNvPr id="16" name="reference"/>
          <p:cNvSpPr/>
          <p:nvPr/>
        </p:nvSpPr>
        <p:spPr>
          <a:xfrm>
            <a:off x="457200" y="3712464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566928" y="391363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371246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Arman Sabri, A. S., &amp; Aziz, R. (2025). Motor vibration and temperature detector by using IoT. Evolution in Electrical and Electronic Engineering, 6(2), 347–355.</a:t>
            </a:r>
            <a:endParaRPr lang="en-US" sz="1050" dirty="0"/>
          </a:p>
        </p:txBody>
      </p:sp>
      <p:sp>
        <p:nvSpPr>
          <p:cNvPr id="20" name="reference"/>
          <p:cNvSpPr/>
          <p:nvPr/>
        </p:nvSpPr>
        <p:spPr>
          <a:xfrm>
            <a:off x="4663440" y="1188720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"/>
          <p:cNvSpPr/>
          <p:nvPr/>
        </p:nvSpPr>
        <p:spPr>
          <a:xfrm>
            <a:off x="4773168" y="13898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7316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118872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Wan Mohd Supian, W. R., Mohd Nordin, I. N. A., Khamis, N., &amp; Muhammad Razif, M. R. (2022). Electrical machine breakdown monitoring system using IoT. Journal of Advanced Industrial Technology and Application, 3(2), 1–7.</a:t>
            </a:r>
            <a:endParaRPr lang="en-US" sz="1050" dirty="0"/>
          </a:p>
        </p:txBody>
      </p:sp>
      <p:sp>
        <p:nvSpPr>
          <p:cNvPr id="24" name="reference"/>
          <p:cNvSpPr/>
          <p:nvPr/>
        </p:nvSpPr>
        <p:spPr>
          <a:xfrm>
            <a:off x="4663440" y="2029968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"/>
          <p:cNvSpPr/>
          <p:nvPr/>
        </p:nvSpPr>
        <p:spPr>
          <a:xfrm>
            <a:off x="4773168" y="22311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7316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20299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ESP32, Arduino and Blynk IoT documentation.</a:t>
            </a:r>
            <a:endParaRPr lang="en-US" sz="1050" dirty="0"/>
          </a:p>
        </p:txBody>
      </p:sp>
      <p:sp>
        <p:nvSpPr>
          <p:cNvPr id="28" name="reference"/>
          <p:cNvSpPr/>
          <p:nvPr/>
        </p:nvSpPr>
        <p:spPr>
          <a:xfrm>
            <a:off x="4663440" y="2871216"/>
            <a:ext cx="4023360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"/>
          <p:cNvSpPr/>
          <p:nvPr/>
        </p:nvSpPr>
        <p:spPr>
          <a:xfrm>
            <a:off x="4773168" y="3072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7316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2871216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Datasheets: ACS712, DS18B20, MPU6050 and SSD1327.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rotor ring"/>
          <p:cNvSpPr/>
          <p:nvPr/>
        </p:nvSpPr>
        <p:spPr>
          <a:xfrm>
            <a:off x="5852160" y="777240"/>
            <a:ext cx="3200400" cy="32004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rotor ring"/>
          <p:cNvSpPr/>
          <p:nvPr/>
        </p:nvSpPr>
        <p:spPr>
          <a:xfrm>
            <a:off x="6355080" y="1280160"/>
            <a:ext cx="2194560" cy="2194560"/>
          </a:xfrm>
          <a:prstGeom prst="ellipse">
            <a:avLst/>
          </a:prstGeom>
          <a:solidFill>
            <a:schemeClr val="accent1">
              <a:alpha val="5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rotor ring"/>
          <p:cNvSpPr/>
          <p:nvPr/>
        </p:nvSpPr>
        <p:spPr>
          <a:xfrm>
            <a:off x="6858000" y="1783080"/>
            <a:ext cx="1188720" cy="118872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bolt badge"/>
          <p:cNvSpPr/>
          <p:nvPr/>
        </p:nvSpPr>
        <p:spPr>
          <a:xfrm>
            <a:off x="7040880" y="19659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1717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DC Monitor">
  <a:themeElements>
    <a:clrScheme name="BLDC Monitor">
      <a:dk1>
        <a:srgbClr val="0B1F2E"/>
      </a:dk1>
      <a:lt1>
        <a:srgbClr val="FFFFFF"/>
      </a:lt1>
      <a:dk2>
        <a:srgbClr val="0F3D4C"/>
      </a:dk2>
      <a:lt2>
        <a:srgbClr val="EAF2F4"/>
      </a:lt2>
      <a:accent1>
        <a:srgbClr val="0E7C86"/>
      </a:accent1>
      <a:accent2>
        <a:srgbClr val="F5A524"/>
      </a:accent2>
      <a:accent3>
        <a:srgbClr val="1F5F8B"/>
      </a:accent3>
      <a:accent4>
        <a:srgbClr val="4A6572"/>
      </a:accent4>
      <a:accent5>
        <a:srgbClr val="C93C3C"/>
      </a:accent5>
      <a:accent6>
        <a:srgbClr val="2E9E6B"/>
      </a:accent6>
      <a:hlink>
        <a:srgbClr val="0E7C86"/>
      </a:hlink>
      <a:folHlink>
        <a:srgbClr val="4A6572"/>
      </a:folHlink>
    </a:clrScheme>
    <a:fontScheme name="BLDC Moni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BLDC Motor Condition Monitoring and Predictive Maintenance System Using ESP32</dc:title>
  <dc:subject>PptxGenJS Presentation</dc:subject>
  <dc:creator>Department of EEE, Amrita Vishwa Vidyapeetham</dc:creator>
  <cp:lastModifiedBy>Department of EEE, Amrita Vishwa Vidyapeetham</cp:lastModifiedBy>
  <cp:revision>1</cp:revision>
  <dcterms:created xsi:type="dcterms:W3CDTF">2026-10-23T07:11:10Z</dcterms:created>
  <dcterms:modified xsi:type="dcterms:W3CDTF">2026-10-23T07:11:10Z</dcterms:modified>
</cp:coreProperties>
</file>